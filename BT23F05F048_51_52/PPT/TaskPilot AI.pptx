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8967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TaskPilot AI is a task planner I built with React, Node.js, Express, MySQL and Google Gemini. In the next few minutes I'll cover the problem, the features, the architecture and where the project goes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juggle a to-do list, a calendar and their own judgment about priorities. That split makes it hard to see the whole day at once, and planning it is repetitive work. TaskPilot AI was built to close that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TaskPilot AI brings four jobs into one product: organizing tasks, scheduling events, planning the day with AI, and reviewing progress through analytics.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feature map. The next slides go through each module in turn: authentication, tasks, events, the AI planner, analytics and the admin panel.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register and log in, and the backend issues a JSON Web Token. Protected API routes only respond to requests that carry a valid token. The security notes from the project cover keeping secrets out of Git, rotating the JWT secret if it leaks, and validating input on both sides.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support the full create, view, update and delete cycle. Each task carries a status and a priority, so the dashboard and the AI planner can work from structured data. The card on the right is an illustrative mock-up, not real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have their own full set of create, update and delete operations, plus a view of upcoming events. They sit next to tasks so a user sees both commitments and to-dos in one app.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feature. The user asks for a daily plan, Google Gemini generates it, and the user can review the suggested schedule and accept it. The API key is held by the backend, never the browser.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summarizes tasks and events, and the analytics module reports productivity and completion statistics. The chart on the right is an illustration of the idea, not real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individual user experience, the admin panel exposes user metrics, event reports and dashboard statistics through a dedicated admin API module.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with Vite on the frontend, Node and Express on the backend, MySQL for storage, and Google Gemini for the AI planner. Git, GitHub and npm round out the tooling.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calls the Express backend over REST. The backend reads and writes MySQL and calls the Gemini API for AI plans. Keeping both behind the server also keeps credentials off the client.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setup takes four steps: clone, import the schema, create the .env files, and start both servers with npm run dev. For production, deploy the backend and frontend separately and set VITE_API_BASE_URL to the live backend address.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covers nine ideas: better task handling with drag and drop and recurring tasks, integrations such as calendar and notifications, collaboration, AI-based personalised task suggestions, file attachments and a mobile app.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or walk through any part of the app in more detail. The code is on GitHub under Adityaraut67/task-planner and is MIT licensed.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B2A43"/>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0B2A4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B2A43"/>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0B2A4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B2A43"/>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0B2A4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B2A43"/>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0B2A4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74244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6FA8"/>
                </a:solidFill>
                <a:latin typeface="DM Sans" pitchFamily="34" charset="0"/>
                <a:ea typeface="DM Sans" pitchFamily="34" charset="-122"/>
                <a:cs typeface="DM Sans" pitchFamily="34" charset="-120"/>
              </a:rPr>
              <a:t>PROJECT PRESENTATION</a:t>
            </a:r>
            <a:endParaRPr lang="en-US" sz="1400" dirty="0"/>
          </a:p>
        </p:txBody>
      </p:sp>
      <p:sp>
        <p:nvSpPr>
          <p:cNvPr id="3" name="Text 1"/>
          <p:cNvSpPr>
            <a:spLocks noGrp="1"/>
          </p:cNvSpPr>
          <p:nvPr>
            <p:ph type="title"/>
          </p:nvPr>
        </p:nvSpPr>
        <p:spPr>
          <a:xfrm>
            <a:off x="812800" y="2194560"/>
            <a:ext cx="10883392" cy="1198880"/>
          </a:xfrm>
          <a:prstGeom prst="rect">
            <a:avLst/>
          </a:prstGeom>
          <a:noFill/>
          <a:ln/>
        </p:spPr>
        <p:txBody>
          <a:bodyPr wrap="square" lIns="0" tIns="0" rIns="0" bIns="0" rtlCol="0" anchor="t">
            <a:normAutofit/>
          </a:bodyPr>
          <a:lstStyle/>
          <a:p>
            <a:pPr marL="0" indent="0" algn="l">
              <a:lnSpc>
                <a:spcPts val="9240"/>
              </a:lnSpc>
              <a:buNone/>
            </a:pPr>
            <a:r>
              <a:rPr lang="en-US" sz="8800" b="1" i="0" dirty="0">
                <a:solidFill>
                  <a:srgbClr val="0B2A43"/>
                </a:solidFill>
                <a:latin typeface="DM Sans" pitchFamily="34" charset="0"/>
                <a:ea typeface="DM Sans" pitchFamily="34" charset="-122"/>
                <a:cs typeface="DM Sans" pitchFamily="34" charset="-120"/>
              </a:rPr>
              <a:t>TaskPilot AI</a:t>
            </a:r>
            <a:endParaRPr lang="en-US" sz="8800" dirty="0"/>
          </a:p>
        </p:txBody>
      </p:sp>
      <p:sp>
        <p:nvSpPr>
          <p:cNvPr id="4" name="Text 2"/>
          <p:cNvSpPr/>
          <p:nvPr/>
        </p:nvSpPr>
        <p:spPr>
          <a:xfrm>
            <a:off x="812800" y="3571240"/>
            <a:ext cx="784860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3F5568"/>
                </a:solidFill>
                <a:latin typeface="DM Sans" pitchFamily="34" charset="0"/>
                <a:ea typeface="DM Sans" pitchFamily="34" charset="-122"/>
                <a:cs typeface="DM Sans" pitchFamily="34" charset="-120"/>
              </a:rPr>
              <a:t>A full-stack task planner that turns tasks and events into an AI-generated daily plan.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THE PROBLEM</a:t>
            </a:r>
            <a:endParaRPr lang="en-US" sz="1400" dirty="0"/>
          </a:p>
        </p:txBody>
      </p:sp>
      <p:sp>
        <p:nvSpPr>
          <p:cNvPr id="3" name="Text 1"/>
          <p:cNvSpPr>
            <a:spLocks noGrp="1"/>
          </p:cNvSpPr>
          <p:nvPr>
            <p:ph type="title"/>
          </p:nvPr>
        </p:nvSpPr>
        <p:spPr>
          <a:xfrm>
            <a:off x="812800" y="113792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Planning a day is scattered across too many places</a:t>
            </a:r>
            <a:endParaRPr lang="en-US" sz="3600" dirty="0"/>
          </a:p>
        </p:txBody>
      </p:sp>
      <p:sp>
        <p:nvSpPr>
          <p:cNvPr id="4" name="Shape 2"/>
          <p:cNvSpPr/>
          <p:nvPr/>
        </p:nvSpPr>
        <p:spPr>
          <a:xfrm>
            <a:off x="815975" y="2451735"/>
            <a:ext cx="3380264" cy="2226310"/>
          </a:xfrm>
          <a:prstGeom prst="roundRect">
            <a:avLst>
              <a:gd name="adj" fmla="val 5562"/>
            </a:avLst>
          </a:prstGeom>
          <a:solidFill>
            <a:srgbClr val="F0F8FE"/>
          </a:solidFill>
          <a:ln w="6350">
            <a:solidFill>
              <a:srgbClr val="CFE6F6"/>
            </a:solidFill>
            <a:prstDash val="solid"/>
          </a:ln>
        </p:spPr>
      </p:sp>
      <p:pic>
        <p:nvPicPr>
          <p:cNvPr id="5" name="Image 0" descr="Warning"/>
          <p:cNvPicPr>
            <a:picLocks noChangeAspect="1"/>
          </p:cNvPicPr>
          <p:nvPr/>
        </p:nvPicPr>
        <p:blipFill>
          <a:blip r:embed="rId3"/>
          <a:srcRect/>
          <a:stretch/>
        </p:blipFill>
        <p:spPr>
          <a:xfrm>
            <a:off x="1071880" y="2707640"/>
            <a:ext cx="406400" cy="406400"/>
          </a:xfrm>
          <a:prstGeom prst="rect">
            <a:avLst/>
          </a:prstGeom>
        </p:spPr>
      </p:pic>
      <p:sp>
        <p:nvSpPr>
          <p:cNvPr id="6" name="Text 3"/>
          <p:cNvSpPr/>
          <p:nvPr/>
        </p:nvSpPr>
        <p:spPr>
          <a:xfrm>
            <a:off x="1071880" y="3215640"/>
            <a:ext cx="295450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Tasks drift</a:t>
            </a:r>
            <a:endParaRPr lang="en-US" sz="2000" dirty="0"/>
          </a:p>
        </p:txBody>
      </p:sp>
      <p:sp>
        <p:nvSpPr>
          <p:cNvPr id="7" name="Text 4"/>
          <p:cNvSpPr/>
          <p:nvPr/>
        </p:nvSpPr>
        <p:spPr>
          <a:xfrm>
            <a:off x="1071880" y="3622040"/>
            <a:ext cx="295450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To-dos pile up without clear status or priority, so nothing signals what matters most.</a:t>
            </a:r>
            <a:endParaRPr lang="en-US" sz="1500" dirty="0"/>
          </a:p>
        </p:txBody>
      </p:sp>
      <p:sp>
        <p:nvSpPr>
          <p:cNvPr id="8" name="Shape 5"/>
          <p:cNvSpPr/>
          <p:nvPr/>
        </p:nvSpPr>
        <p:spPr>
          <a:xfrm>
            <a:off x="4405789" y="2451735"/>
            <a:ext cx="3380343" cy="2226310"/>
          </a:xfrm>
          <a:prstGeom prst="roundRect">
            <a:avLst>
              <a:gd name="adj" fmla="val 5562"/>
            </a:avLst>
          </a:prstGeom>
          <a:solidFill>
            <a:srgbClr val="F0F8FE"/>
          </a:solidFill>
          <a:ln w="6350">
            <a:solidFill>
              <a:srgbClr val="CFE6F6"/>
            </a:solidFill>
            <a:prstDash val="solid"/>
          </a:ln>
        </p:spPr>
      </p:sp>
      <p:pic>
        <p:nvPicPr>
          <p:cNvPr id="9" name="Image 1" descr="Clock"/>
          <p:cNvPicPr>
            <a:picLocks noChangeAspect="1"/>
          </p:cNvPicPr>
          <p:nvPr/>
        </p:nvPicPr>
        <p:blipFill>
          <a:blip r:embed="rId4"/>
          <a:srcRect/>
          <a:stretch/>
        </p:blipFill>
        <p:spPr>
          <a:xfrm>
            <a:off x="4661694" y="2707640"/>
            <a:ext cx="406400" cy="406400"/>
          </a:xfrm>
          <a:prstGeom prst="rect">
            <a:avLst/>
          </a:prstGeom>
        </p:spPr>
      </p:pic>
      <p:sp>
        <p:nvSpPr>
          <p:cNvPr id="10" name="Text 6"/>
          <p:cNvSpPr/>
          <p:nvPr/>
        </p:nvSpPr>
        <p:spPr>
          <a:xfrm>
            <a:off x="4661694" y="3215640"/>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Events live apart</a:t>
            </a:r>
            <a:endParaRPr lang="en-US" sz="2000" dirty="0"/>
          </a:p>
        </p:txBody>
      </p:sp>
      <p:sp>
        <p:nvSpPr>
          <p:cNvPr id="11" name="Text 7"/>
          <p:cNvSpPr/>
          <p:nvPr/>
        </p:nvSpPr>
        <p:spPr>
          <a:xfrm>
            <a:off x="4661694" y="3622040"/>
            <a:ext cx="295458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Meetings and deadlines sit in a different tool from the work they affect.</a:t>
            </a:r>
            <a:endParaRPr lang="en-US" sz="1500" dirty="0"/>
          </a:p>
        </p:txBody>
      </p:sp>
      <p:sp>
        <p:nvSpPr>
          <p:cNvPr id="12" name="Shape 8"/>
          <p:cNvSpPr/>
          <p:nvPr/>
        </p:nvSpPr>
        <p:spPr>
          <a:xfrm>
            <a:off x="7995682" y="2451735"/>
            <a:ext cx="3380343" cy="2226310"/>
          </a:xfrm>
          <a:prstGeom prst="roundRect">
            <a:avLst>
              <a:gd name="adj" fmla="val 5562"/>
            </a:avLst>
          </a:prstGeom>
          <a:solidFill>
            <a:srgbClr val="F0F8FE"/>
          </a:solidFill>
          <a:ln w="6350">
            <a:solidFill>
              <a:srgbClr val="CFE6F6"/>
            </a:solidFill>
            <a:prstDash val="solid"/>
          </a:ln>
        </p:spPr>
      </p:sp>
      <p:pic>
        <p:nvPicPr>
          <p:cNvPr id="13" name="Image 2" descr="Lightbulb"/>
          <p:cNvPicPr>
            <a:picLocks noChangeAspect="1"/>
          </p:cNvPicPr>
          <p:nvPr/>
        </p:nvPicPr>
        <p:blipFill>
          <a:blip r:embed="rId5"/>
          <a:srcRect/>
          <a:stretch/>
        </p:blipFill>
        <p:spPr>
          <a:xfrm>
            <a:off x="8251587" y="2707640"/>
            <a:ext cx="406400" cy="406400"/>
          </a:xfrm>
          <a:prstGeom prst="rect">
            <a:avLst/>
          </a:prstGeom>
        </p:spPr>
      </p:pic>
      <p:sp>
        <p:nvSpPr>
          <p:cNvPr id="14" name="Text 9"/>
          <p:cNvSpPr/>
          <p:nvPr/>
        </p:nvSpPr>
        <p:spPr>
          <a:xfrm>
            <a:off x="8251587" y="3215640"/>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No daily plan</a:t>
            </a:r>
            <a:endParaRPr lang="en-US" sz="2000" dirty="0"/>
          </a:p>
        </p:txBody>
      </p:sp>
      <p:sp>
        <p:nvSpPr>
          <p:cNvPr id="15" name="Text 10"/>
          <p:cNvSpPr/>
          <p:nvPr/>
        </p:nvSpPr>
        <p:spPr>
          <a:xfrm>
            <a:off x="8251587" y="3622040"/>
            <a:ext cx="295458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Deciding what to do first and when still takes manual effort every morning.</a:t>
            </a:r>
            <a:endParaRPr lang="en-US" sz="1500" dirty="0"/>
          </a:p>
        </p:txBody>
      </p:sp>
      <p:sp>
        <p:nvSpPr>
          <p:cNvPr id="16" name="Text 11"/>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17" name="Text 12"/>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THE SOLUTION</a:t>
            </a:r>
            <a:endParaRPr lang="en-US" sz="1400" dirty="0"/>
          </a:p>
        </p:txBody>
      </p:sp>
      <p:sp>
        <p:nvSpPr>
          <p:cNvPr id="3" name="Text 1"/>
          <p:cNvSpPr>
            <a:spLocks noGrp="1"/>
          </p:cNvSpPr>
          <p:nvPr>
            <p:ph type="title"/>
          </p:nvPr>
        </p:nvSpPr>
        <p:spPr>
          <a:xfrm>
            <a:off x="812800" y="1137920"/>
            <a:ext cx="11379200"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One app to organize, schedule, plan and review</a:t>
            </a:r>
            <a:endParaRPr lang="en-US" sz="3600" dirty="0"/>
          </a:p>
        </p:txBody>
      </p:sp>
      <p:sp>
        <p:nvSpPr>
          <p:cNvPr id="4" name="Shape 2"/>
          <p:cNvSpPr/>
          <p:nvPr/>
        </p:nvSpPr>
        <p:spPr>
          <a:xfrm>
            <a:off x="815975" y="1948816"/>
            <a:ext cx="5175250" cy="1108710"/>
          </a:xfrm>
          <a:prstGeom prst="roundRect">
            <a:avLst>
              <a:gd name="adj" fmla="val 11168"/>
            </a:avLst>
          </a:prstGeom>
          <a:solidFill>
            <a:srgbClr val="FFFFFF"/>
          </a:solidFill>
          <a:ln w="6350">
            <a:solidFill>
              <a:srgbClr val="C5E0F3"/>
            </a:solidFill>
            <a:prstDash val="solid"/>
          </a:ln>
        </p:spPr>
      </p:sp>
      <p:sp>
        <p:nvSpPr>
          <p:cNvPr id="5" name="Text 3"/>
          <p:cNvSpPr/>
          <p:nvPr/>
        </p:nvSpPr>
        <p:spPr>
          <a:xfrm>
            <a:off x="1046480" y="217932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6FA8"/>
                </a:solidFill>
                <a:latin typeface="DM Sans" pitchFamily="34" charset="0"/>
                <a:ea typeface="DM Sans" pitchFamily="34" charset="-122"/>
                <a:cs typeface="DM Sans" pitchFamily="34" charset="-120"/>
              </a:rPr>
              <a:t>Organize</a:t>
            </a:r>
            <a:endParaRPr lang="en-US" sz="2000" dirty="0"/>
          </a:p>
        </p:txBody>
      </p:sp>
      <p:sp>
        <p:nvSpPr>
          <p:cNvPr id="6" name="Text 4"/>
          <p:cNvSpPr/>
          <p:nvPr/>
        </p:nvSpPr>
        <p:spPr>
          <a:xfrm>
            <a:off x="1046480" y="2560320"/>
            <a:ext cx="485566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Create tasks and track their status and priority.</a:t>
            </a:r>
            <a:endParaRPr lang="en-US" sz="1500" dirty="0"/>
          </a:p>
        </p:txBody>
      </p:sp>
      <p:sp>
        <p:nvSpPr>
          <p:cNvPr id="7" name="Shape 5"/>
          <p:cNvSpPr/>
          <p:nvPr/>
        </p:nvSpPr>
        <p:spPr>
          <a:xfrm>
            <a:off x="6200775" y="1948816"/>
            <a:ext cx="5175250" cy="1108710"/>
          </a:xfrm>
          <a:prstGeom prst="roundRect">
            <a:avLst>
              <a:gd name="adj" fmla="val 11168"/>
            </a:avLst>
          </a:prstGeom>
          <a:solidFill>
            <a:srgbClr val="FFFFFF"/>
          </a:solidFill>
          <a:ln w="6350">
            <a:solidFill>
              <a:srgbClr val="C5E0F3"/>
            </a:solidFill>
            <a:prstDash val="solid"/>
          </a:ln>
        </p:spPr>
      </p:sp>
      <p:sp>
        <p:nvSpPr>
          <p:cNvPr id="8" name="Text 6"/>
          <p:cNvSpPr/>
          <p:nvPr/>
        </p:nvSpPr>
        <p:spPr>
          <a:xfrm>
            <a:off x="6431280" y="217932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6FA8"/>
                </a:solidFill>
                <a:latin typeface="DM Sans" pitchFamily="34" charset="0"/>
                <a:ea typeface="DM Sans" pitchFamily="34" charset="-122"/>
                <a:cs typeface="DM Sans" pitchFamily="34" charset="-120"/>
              </a:rPr>
              <a:t>Schedule</a:t>
            </a:r>
            <a:endParaRPr lang="en-US" sz="2000" dirty="0"/>
          </a:p>
        </p:txBody>
      </p:sp>
      <p:sp>
        <p:nvSpPr>
          <p:cNvPr id="9" name="Text 7"/>
          <p:cNvSpPr/>
          <p:nvPr/>
        </p:nvSpPr>
        <p:spPr>
          <a:xfrm>
            <a:off x="6431280" y="2560320"/>
            <a:ext cx="485566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Manage events and see what is coming up.</a:t>
            </a:r>
            <a:endParaRPr lang="en-US" sz="1500" dirty="0"/>
          </a:p>
        </p:txBody>
      </p:sp>
      <p:sp>
        <p:nvSpPr>
          <p:cNvPr id="10" name="Shape 8"/>
          <p:cNvSpPr/>
          <p:nvPr/>
        </p:nvSpPr>
        <p:spPr>
          <a:xfrm>
            <a:off x="815975" y="3267075"/>
            <a:ext cx="5175250" cy="1375410"/>
          </a:xfrm>
          <a:prstGeom prst="roundRect">
            <a:avLst>
              <a:gd name="adj" fmla="val 9003"/>
            </a:avLst>
          </a:prstGeom>
          <a:solidFill>
            <a:srgbClr val="FFFFFF"/>
          </a:solidFill>
          <a:ln w="6350">
            <a:solidFill>
              <a:srgbClr val="C5E0F3"/>
            </a:solidFill>
            <a:prstDash val="solid"/>
          </a:ln>
        </p:spPr>
      </p:sp>
      <p:sp>
        <p:nvSpPr>
          <p:cNvPr id="11" name="Text 9"/>
          <p:cNvSpPr/>
          <p:nvPr/>
        </p:nvSpPr>
        <p:spPr>
          <a:xfrm>
            <a:off x="1046480" y="349758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6FA8"/>
                </a:solidFill>
                <a:latin typeface="DM Sans" pitchFamily="34" charset="0"/>
                <a:ea typeface="DM Sans" pitchFamily="34" charset="-122"/>
                <a:cs typeface="DM Sans" pitchFamily="34" charset="-120"/>
              </a:rPr>
              <a:t>Plan</a:t>
            </a:r>
            <a:endParaRPr lang="en-US" sz="2000" dirty="0"/>
          </a:p>
        </p:txBody>
      </p:sp>
      <p:sp>
        <p:nvSpPr>
          <p:cNvPr id="12" name="Text 10"/>
          <p:cNvSpPr/>
          <p:nvPr/>
        </p:nvSpPr>
        <p:spPr>
          <a:xfrm>
            <a:off x="1046480" y="3878580"/>
            <a:ext cx="485566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Generate a daily plan with Google Gemini and accept it in one step.</a:t>
            </a:r>
            <a:endParaRPr lang="en-US" sz="1500" dirty="0"/>
          </a:p>
        </p:txBody>
      </p:sp>
      <p:sp>
        <p:nvSpPr>
          <p:cNvPr id="13" name="Shape 11"/>
          <p:cNvSpPr/>
          <p:nvPr/>
        </p:nvSpPr>
        <p:spPr>
          <a:xfrm>
            <a:off x="6200775" y="3267075"/>
            <a:ext cx="5175250" cy="1375410"/>
          </a:xfrm>
          <a:prstGeom prst="roundRect">
            <a:avLst>
              <a:gd name="adj" fmla="val 9003"/>
            </a:avLst>
          </a:prstGeom>
          <a:solidFill>
            <a:srgbClr val="FFFFFF"/>
          </a:solidFill>
          <a:ln w="6350">
            <a:solidFill>
              <a:srgbClr val="C5E0F3"/>
            </a:solidFill>
            <a:prstDash val="solid"/>
          </a:ln>
        </p:spPr>
      </p:sp>
      <p:sp>
        <p:nvSpPr>
          <p:cNvPr id="14" name="Text 12"/>
          <p:cNvSpPr/>
          <p:nvPr/>
        </p:nvSpPr>
        <p:spPr>
          <a:xfrm>
            <a:off x="6431280" y="349758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6FA8"/>
                </a:solidFill>
                <a:latin typeface="DM Sans" pitchFamily="34" charset="0"/>
                <a:ea typeface="DM Sans" pitchFamily="34" charset="-122"/>
                <a:cs typeface="DM Sans" pitchFamily="34" charset="-120"/>
              </a:rPr>
              <a:t>Review</a:t>
            </a:r>
            <a:endParaRPr lang="en-US" sz="2000" dirty="0"/>
          </a:p>
        </p:txBody>
      </p:sp>
      <p:sp>
        <p:nvSpPr>
          <p:cNvPr id="15" name="Text 13"/>
          <p:cNvSpPr/>
          <p:nvPr/>
        </p:nvSpPr>
        <p:spPr>
          <a:xfrm>
            <a:off x="6431280" y="3878580"/>
            <a:ext cx="485566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Follow progress through a dashboard and productivity analytics.</a:t>
            </a:r>
            <a:endParaRPr lang="en-US" sz="1500" dirty="0"/>
          </a:p>
        </p:txBody>
      </p:sp>
      <p:sp>
        <p:nvSpPr>
          <p:cNvPr id="16" name="Text 14"/>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FEATURES</a:t>
            </a:r>
            <a:endParaRPr lang="en-US" sz="1400" dirty="0"/>
          </a:p>
        </p:txBody>
      </p:sp>
      <p:sp>
        <p:nvSpPr>
          <p:cNvPr id="3" name="Text 1"/>
          <p:cNvSpPr>
            <a:spLocks noGrp="1"/>
          </p:cNvSpPr>
          <p:nvPr>
            <p:ph type="title"/>
          </p:nvPr>
        </p:nvSpPr>
        <p:spPr>
          <a:xfrm>
            <a:off x="812800" y="11379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Six modules, one workflow</a:t>
            </a:r>
            <a:endParaRPr lang="en-US" sz="3600" dirty="0"/>
          </a:p>
        </p:txBody>
      </p:sp>
      <p:sp>
        <p:nvSpPr>
          <p:cNvPr id="4" name="Shape 2"/>
          <p:cNvSpPr/>
          <p:nvPr/>
        </p:nvSpPr>
        <p:spPr>
          <a:xfrm>
            <a:off x="815975" y="1948816"/>
            <a:ext cx="3380264" cy="1621790"/>
          </a:xfrm>
          <a:prstGeom prst="roundRect">
            <a:avLst>
              <a:gd name="adj" fmla="val 7635"/>
            </a:avLst>
          </a:prstGeom>
          <a:solidFill>
            <a:srgbClr val="F0F8FE"/>
          </a:solidFill>
          <a:ln w="6350">
            <a:solidFill>
              <a:srgbClr val="CFE6F6"/>
            </a:solidFill>
            <a:prstDash val="solid"/>
          </a:ln>
        </p:spPr>
      </p:sp>
      <p:pic>
        <p:nvPicPr>
          <p:cNvPr id="5" name="Image 0" descr="Lock"/>
          <p:cNvPicPr>
            <a:picLocks noChangeAspect="1"/>
          </p:cNvPicPr>
          <p:nvPr/>
        </p:nvPicPr>
        <p:blipFill>
          <a:blip r:embed="rId3"/>
          <a:srcRect/>
          <a:stretch/>
        </p:blipFill>
        <p:spPr>
          <a:xfrm>
            <a:off x="1021080" y="2153920"/>
            <a:ext cx="330200" cy="330200"/>
          </a:xfrm>
          <a:prstGeom prst="rect">
            <a:avLst/>
          </a:prstGeom>
        </p:spPr>
      </p:pic>
      <p:sp>
        <p:nvSpPr>
          <p:cNvPr id="6" name="Text 3"/>
          <p:cNvSpPr/>
          <p:nvPr/>
        </p:nvSpPr>
        <p:spPr>
          <a:xfrm>
            <a:off x="1021080" y="2547620"/>
            <a:ext cx="305915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Authentication</a:t>
            </a:r>
            <a:endParaRPr lang="en-US" sz="1800" dirty="0"/>
          </a:p>
        </p:txBody>
      </p:sp>
      <p:sp>
        <p:nvSpPr>
          <p:cNvPr id="7" name="Text 4"/>
          <p:cNvSpPr/>
          <p:nvPr/>
        </p:nvSpPr>
        <p:spPr>
          <a:xfrm>
            <a:off x="1021080" y="2885441"/>
            <a:ext cx="3059155"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Registration, login and JWT-protected routes.</a:t>
            </a:r>
            <a:endParaRPr lang="en-US" sz="1400" dirty="0"/>
          </a:p>
        </p:txBody>
      </p:sp>
      <p:sp>
        <p:nvSpPr>
          <p:cNvPr id="8" name="Shape 5"/>
          <p:cNvSpPr/>
          <p:nvPr/>
        </p:nvSpPr>
        <p:spPr>
          <a:xfrm>
            <a:off x="4405789" y="1948816"/>
            <a:ext cx="3380343" cy="1621790"/>
          </a:xfrm>
          <a:prstGeom prst="roundRect">
            <a:avLst>
              <a:gd name="adj" fmla="val 7635"/>
            </a:avLst>
          </a:prstGeom>
          <a:solidFill>
            <a:srgbClr val="F0F8FE"/>
          </a:solidFill>
          <a:ln w="6350">
            <a:solidFill>
              <a:srgbClr val="CFE6F6"/>
            </a:solidFill>
            <a:prstDash val="solid"/>
          </a:ln>
        </p:spPr>
      </p:sp>
      <p:pic>
        <p:nvPicPr>
          <p:cNvPr id="9" name="Image 1" descr="Check"/>
          <p:cNvPicPr>
            <a:picLocks noChangeAspect="1"/>
          </p:cNvPicPr>
          <p:nvPr/>
        </p:nvPicPr>
        <p:blipFill>
          <a:blip r:embed="rId4"/>
          <a:srcRect/>
          <a:stretch/>
        </p:blipFill>
        <p:spPr>
          <a:xfrm>
            <a:off x="4610894" y="2153920"/>
            <a:ext cx="330200" cy="330200"/>
          </a:xfrm>
          <a:prstGeom prst="rect">
            <a:avLst/>
          </a:prstGeom>
        </p:spPr>
      </p:pic>
      <p:sp>
        <p:nvSpPr>
          <p:cNvPr id="10" name="Text 6"/>
          <p:cNvSpPr/>
          <p:nvPr/>
        </p:nvSpPr>
        <p:spPr>
          <a:xfrm>
            <a:off x="4610894" y="2547620"/>
            <a:ext cx="305923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Tasks</a:t>
            </a:r>
            <a:endParaRPr lang="en-US" sz="1800" dirty="0"/>
          </a:p>
        </p:txBody>
      </p:sp>
      <p:sp>
        <p:nvSpPr>
          <p:cNvPr id="11" name="Text 7"/>
          <p:cNvSpPr/>
          <p:nvPr/>
        </p:nvSpPr>
        <p:spPr>
          <a:xfrm>
            <a:off x="4610894" y="2885441"/>
            <a:ext cx="305923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Full create, view, update and delete with status and priority.</a:t>
            </a:r>
            <a:endParaRPr lang="en-US" sz="1400" dirty="0"/>
          </a:p>
        </p:txBody>
      </p:sp>
      <p:sp>
        <p:nvSpPr>
          <p:cNvPr id="12" name="Shape 8"/>
          <p:cNvSpPr/>
          <p:nvPr/>
        </p:nvSpPr>
        <p:spPr>
          <a:xfrm>
            <a:off x="7995682" y="1948816"/>
            <a:ext cx="3380343" cy="1621790"/>
          </a:xfrm>
          <a:prstGeom prst="roundRect">
            <a:avLst>
              <a:gd name="adj" fmla="val 7635"/>
            </a:avLst>
          </a:prstGeom>
          <a:solidFill>
            <a:srgbClr val="F0F8FE"/>
          </a:solidFill>
          <a:ln w="6350">
            <a:solidFill>
              <a:srgbClr val="CFE6F6"/>
            </a:solidFill>
            <a:prstDash val="solid"/>
          </a:ln>
        </p:spPr>
      </p:sp>
      <p:pic>
        <p:nvPicPr>
          <p:cNvPr id="13" name="Image 2" descr="Clock"/>
          <p:cNvPicPr>
            <a:picLocks noChangeAspect="1"/>
          </p:cNvPicPr>
          <p:nvPr/>
        </p:nvPicPr>
        <p:blipFill>
          <a:blip r:embed="rId5"/>
          <a:srcRect/>
          <a:stretch/>
        </p:blipFill>
        <p:spPr>
          <a:xfrm>
            <a:off x="8200787" y="2153920"/>
            <a:ext cx="330200" cy="330200"/>
          </a:xfrm>
          <a:prstGeom prst="rect">
            <a:avLst/>
          </a:prstGeom>
        </p:spPr>
      </p:pic>
      <p:sp>
        <p:nvSpPr>
          <p:cNvPr id="14" name="Text 9"/>
          <p:cNvSpPr/>
          <p:nvPr/>
        </p:nvSpPr>
        <p:spPr>
          <a:xfrm>
            <a:off x="8200787" y="2547620"/>
            <a:ext cx="305923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Events</a:t>
            </a:r>
            <a:endParaRPr lang="en-US" sz="1800" dirty="0"/>
          </a:p>
        </p:txBody>
      </p:sp>
      <p:sp>
        <p:nvSpPr>
          <p:cNvPr id="15" name="Text 10"/>
          <p:cNvSpPr/>
          <p:nvPr/>
        </p:nvSpPr>
        <p:spPr>
          <a:xfrm>
            <a:off x="8200787" y="2885441"/>
            <a:ext cx="305923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Create, update and delete events, with an upcoming view.</a:t>
            </a:r>
            <a:endParaRPr lang="en-US" sz="1400" dirty="0"/>
          </a:p>
        </p:txBody>
      </p:sp>
      <p:sp>
        <p:nvSpPr>
          <p:cNvPr id="16" name="Shape 11"/>
          <p:cNvSpPr/>
          <p:nvPr/>
        </p:nvSpPr>
        <p:spPr>
          <a:xfrm>
            <a:off x="815975" y="3780155"/>
            <a:ext cx="3380264" cy="1621790"/>
          </a:xfrm>
          <a:prstGeom prst="roundRect">
            <a:avLst>
              <a:gd name="adj" fmla="val 7635"/>
            </a:avLst>
          </a:prstGeom>
          <a:solidFill>
            <a:srgbClr val="F0F8FE"/>
          </a:solidFill>
          <a:ln w="6350">
            <a:solidFill>
              <a:srgbClr val="CFE6F6"/>
            </a:solidFill>
            <a:prstDash val="solid"/>
          </a:ln>
        </p:spPr>
      </p:sp>
      <p:pic>
        <p:nvPicPr>
          <p:cNvPr id="17" name="Image 3" descr="Lightning"/>
          <p:cNvPicPr>
            <a:picLocks noChangeAspect="1"/>
          </p:cNvPicPr>
          <p:nvPr/>
        </p:nvPicPr>
        <p:blipFill>
          <a:blip r:embed="rId6"/>
          <a:srcRect/>
          <a:stretch/>
        </p:blipFill>
        <p:spPr>
          <a:xfrm>
            <a:off x="1021080" y="3985261"/>
            <a:ext cx="330200" cy="330200"/>
          </a:xfrm>
          <a:prstGeom prst="rect">
            <a:avLst/>
          </a:prstGeom>
        </p:spPr>
      </p:pic>
      <p:sp>
        <p:nvSpPr>
          <p:cNvPr id="18" name="Text 12"/>
          <p:cNvSpPr/>
          <p:nvPr/>
        </p:nvSpPr>
        <p:spPr>
          <a:xfrm>
            <a:off x="1021080" y="4378961"/>
            <a:ext cx="305915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AI Planner</a:t>
            </a:r>
            <a:endParaRPr lang="en-US" sz="1800" dirty="0"/>
          </a:p>
        </p:txBody>
      </p:sp>
      <p:sp>
        <p:nvSpPr>
          <p:cNvPr id="19" name="Text 13"/>
          <p:cNvSpPr/>
          <p:nvPr/>
        </p:nvSpPr>
        <p:spPr>
          <a:xfrm>
            <a:off x="1021080" y="4716780"/>
            <a:ext cx="3059155"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Daily plans from Google Gemini that you can accept.</a:t>
            </a:r>
            <a:endParaRPr lang="en-US" sz="1400" dirty="0"/>
          </a:p>
        </p:txBody>
      </p:sp>
      <p:sp>
        <p:nvSpPr>
          <p:cNvPr id="20" name="Shape 14"/>
          <p:cNvSpPr/>
          <p:nvPr/>
        </p:nvSpPr>
        <p:spPr>
          <a:xfrm>
            <a:off x="4405789" y="3780155"/>
            <a:ext cx="3380343" cy="1621790"/>
          </a:xfrm>
          <a:prstGeom prst="roundRect">
            <a:avLst>
              <a:gd name="adj" fmla="val 7635"/>
            </a:avLst>
          </a:prstGeom>
          <a:solidFill>
            <a:srgbClr val="F0F8FE"/>
          </a:solidFill>
          <a:ln w="6350">
            <a:solidFill>
              <a:srgbClr val="CFE6F6"/>
            </a:solidFill>
            <a:prstDash val="solid"/>
          </a:ln>
        </p:spPr>
      </p:sp>
      <p:pic>
        <p:nvPicPr>
          <p:cNvPr id="21" name="Image 4" descr="Chart"/>
          <p:cNvPicPr>
            <a:picLocks noChangeAspect="1"/>
          </p:cNvPicPr>
          <p:nvPr/>
        </p:nvPicPr>
        <p:blipFill>
          <a:blip r:embed="rId7"/>
          <a:srcRect/>
          <a:stretch/>
        </p:blipFill>
        <p:spPr>
          <a:xfrm>
            <a:off x="4610894" y="3985261"/>
            <a:ext cx="330200" cy="330200"/>
          </a:xfrm>
          <a:prstGeom prst="rect">
            <a:avLst/>
          </a:prstGeom>
        </p:spPr>
      </p:pic>
      <p:sp>
        <p:nvSpPr>
          <p:cNvPr id="22" name="Text 15"/>
          <p:cNvSpPr/>
          <p:nvPr/>
        </p:nvSpPr>
        <p:spPr>
          <a:xfrm>
            <a:off x="4610894" y="4378961"/>
            <a:ext cx="305923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Analytics</a:t>
            </a:r>
            <a:endParaRPr lang="en-US" sz="1800" dirty="0"/>
          </a:p>
        </p:txBody>
      </p:sp>
      <p:sp>
        <p:nvSpPr>
          <p:cNvPr id="23" name="Text 16"/>
          <p:cNvSpPr/>
          <p:nvPr/>
        </p:nvSpPr>
        <p:spPr>
          <a:xfrm>
            <a:off x="4610894" y="4716780"/>
            <a:ext cx="305923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Dashboard summaries and completion statistics.</a:t>
            </a:r>
            <a:endParaRPr lang="en-US" sz="1400" dirty="0"/>
          </a:p>
        </p:txBody>
      </p:sp>
      <p:sp>
        <p:nvSpPr>
          <p:cNvPr id="24" name="Shape 17"/>
          <p:cNvSpPr/>
          <p:nvPr/>
        </p:nvSpPr>
        <p:spPr>
          <a:xfrm>
            <a:off x="7995682" y="3780155"/>
            <a:ext cx="3380343" cy="1621790"/>
          </a:xfrm>
          <a:prstGeom prst="roundRect">
            <a:avLst>
              <a:gd name="adj" fmla="val 7635"/>
            </a:avLst>
          </a:prstGeom>
          <a:solidFill>
            <a:srgbClr val="F0F8FE"/>
          </a:solidFill>
          <a:ln w="6350">
            <a:solidFill>
              <a:srgbClr val="CFE6F6"/>
            </a:solidFill>
            <a:prstDash val="solid"/>
          </a:ln>
        </p:spPr>
      </p:sp>
      <p:pic>
        <p:nvPicPr>
          <p:cNvPr id="25" name="Image 5" descr="Users"/>
          <p:cNvPicPr>
            <a:picLocks noChangeAspect="1"/>
          </p:cNvPicPr>
          <p:nvPr/>
        </p:nvPicPr>
        <p:blipFill>
          <a:blip r:embed="rId8"/>
          <a:srcRect/>
          <a:stretch/>
        </p:blipFill>
        <p:spPr>
          <a:xfrm>
            <a:off x="8200787" y="3985261"/>
            <a:ext cx="330200" cy="330200"/>
          </a:xfrm>
          <a:prstGeom prst="rect">
            <a:avLst/>
          </a:prstGeom>
        </p:spPr>
      </p:pic>
      <p:sp>
        <p:nvSpPr>
          <p:cNvPr id="26" name="Text 18"/>
          <p:cNvSpPr/>
          <p:nvPr/>
        </p:nvSpPr>
        <p:spPr>
          <a:xfrm>
            <a:off x="8200787" y="4378961"/>
            <a:ext cx="305923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Admin Panel</a:t>
            </a:r>
            <a:endParaRPr lang="en-US" sz="1800" dirty="0"/>
          </a:p>
        </p:txBody>
      </p:sp>
      <p:sp>
        <p:nvSpPr>
          <p:cNvPr id="27" name="Text 19"/>
          <p:cNvSpPr/>
          <p:nvPr/>
        </p:nvSpPr>
        <p:spPr>
          <a:xfrm>
            <a:off x="8200787" y="4716780"/>
            <a:ext cx="305923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User metrics, event reports and platform statistics.</a:t>
            </a:r>
            <a:endParaRPr lang="en-US" sz="1400" dirty="0"/>
          </a:p>
        </p:txBody>
      </p:sp>
      <p:sp>
        <p:nvSpPr>
          <p:cNvPr id="28" name="Text 20"/>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29" name="Text 21"/>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AUTHENTICATION</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Every request is verified with a JWT</a:t>
            </a:r>
            <a:endParaRPr lang="en-US" sz="3600" dirty="0"/>
          </a:p>
        </p:txBody>
      </p:sp>
      <p:sp>
        <p:nvSpPr>
          <p:cNvPr id="4" name="Shape 2"/>
          <p:cNvSpPr/>
          <p:nvPr/>
        </p:nvSpPr>
        <p:spPr>
          <a:xfrm>
            <a:off x="815975" y="2043432"/>
            <a:ext cx="2139950" cy="1224280"/>
          </a:xfrm>
          <a:prstGeom prst="roundRect">
            <a:avLst>
              <a:gd name="adj" fmla="val 10114"/>
            </a:avLst>
          </a:prstGeom>
          <a:solidFill>
            <a:srgbClr val="FFFFFF"/>
          </a:solidFill>
          <a:ln w="6350">
            <a:solidFill>
              <a:srgbClr val="C5E0F3"/>
            </a:solidFill>
            <a:prstDash val="solid"/>
          </a:ln>
        </p:spPr>
      </p:sp>
      <p:sp>
        <p:nvSpPr>
          <p:cNvPr id="5" name="Text 3"/>
          <p:cNvSpPr/>
          <p:nvPr/>
        </p:nvSpPr>
        <p:spPr>
          <a:xfrm>
            <a:off x="995680" y="2223136"/>
            <a:ext cx="183395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1</a:t>
            </a:r>
            <a:endParaRPr lang="en-US" sz="1400" dirty="0"/>
          </a:p>
        </p:txBody>
      </p:sp>
      <p:sp>
        <p:nvSpPr>
          <p:cNvPr id="6" name="Text 4"/>
          <p:cNvSpPr/>
          <p:nvPr/>
        </p:nvSpPr>
        <p:spPr>
          <a:xfrm>
            <a:off x="995680" y="2522857"/>
            <a:ext cx="183395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Register</a:t>
            </a:r>
            <a:endParaRPr lang="en-US" sz="1800" dirty="0"/>
          </a:p>
        </p:txBody>
      </p:sp>
      <p:sp>
        <p:nvSpPr>
          <p:cNvPr id="7" name="Text 5"/>
          <p:cNvSpPr/>
          <p:nvPr/>
        </p:nvSpPr>
        <p:spPr>
          <a:xfrm>
            <a:off x="995680" y="2847975"/>
            <a:ext cx="183395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Create an account</a:t>
            </a:r>
            <a:endParaRPr lang="en-US" sz="1400" dirty="0"/>
          </a:p>
        </p:txBody>
      </p:sp>
      <p:pic>
        <p:nvPicPr>
          <p:cNvPr id="8" name="Image 0" descr="arrow-right"/>
          <p:cNvPicPr>
            <a:picLocks noChangeAspect="1"/>
          </p:cNvPicPr>
          <p:nvPr/>
        </p:nvPicPr>
        <p:blipFill>
          <a:blip r:embed="rId3"/>
          <a:srcRect/>
          <a:stretch/>
        </p:blipFill>
        <p:spPr>
          <a:xfrm>
            <a:off x="3111500" y="2566671"/>
            <a:ext cx="355600" cy="177800"/>
          </a:xfrm>
          <a:prstGeom prst="rect">
            <a:avLst/>
          </a:prstGeom>
        </p:spPr>
      </p:pic>
      <p:sp>
        <p:nvSpPr>
          <p:cNvPr id="9" name="Shape 6"/>
          <p:cNvSpPr/>
          <p:nvPr/>
        </p:nvSpPr>
        <p:spPr>
          <a:xfrm>
            <a:off x="3622675" y="2043432"/>
            <a:ext cx="2139950" cy="1224280"/>
          </a:xfrm>
          <a:prstGeom prst="roundRect">
            <a:avLst>
              <a:gd name="adj" fmla="val 10114"/>
            </a:avLst>
          </a:prstGeom>
          <a:solidFill>
            <a:srgbClr val="FFFFFF"/>
          </a:solidFill>
          <a:ln w="6350">
            <a:solidFill>
              <a:srgbClr val="C5E0F3"/>
            </a:solidFill>
            <a:prstDash val="solid"/>
          </a:ln>
        </p:spPr>
      </p:sp>
      <p:sp>
        <p:nvSpPr>
          <p:cNvPr id="10" name="Text 7"/>
          <p:cNvSpPr/>
          <p:nvPr/>
        </p:nvSpPr>
        <p:spPr>
          <a:xfrm>
            <a:off x="3802380" y="2223136"/>
            <a:ext cx="183395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2</a:t>
            </a:r>
            <a:endParaRPr lang="en-US" sz="1400" dirty="0"/>
          </a:p>
        </p:txBody>
      </p:sp>
      <p:sp>
        <p:nvSpPr>
          <p:cNvPr id="11" name="Text 8"/>
          <p:cNvSpPr/>
          <p:nvPr/>
        </p:nvSpPr>
        <p:spPr>
          <a:xfrm>
            <a:off x="3802380" y="2522857"/>
            <a:ext cx="183395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Login</a:t>
            </a:r>
            <a:endParaRPr lang="en-US" sz="1800" dirty="0"/>
          </a:p>
        </p:txBody>
      </p:sp>
      <p:sp>
        <p:nvSpPr>
          <p:cNvPr id="12" name="Text 9"/>
          <p:cNvSpPr/>
          <p:nvPr/>
        </p:nvSpPr>
        <p:spPr>
          <a:xfrm>
            <a:off x="3802380" y="2847975"/>
            <a:ext cx="183395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Sign in securely</a:t>
            </a:r>
            <a:endParaRPr lang="en-US" sz="1400" dirty="0"/>
          </a:p>
        </p:txBody>
      </p:sp>
      <p:pic>
        <p:nvPicPr>
          <p:cNvPr id="13" name="Image 1" descr="arrow-right"/>
          <p:cNvPicPr>
            <a:picLocks noChangeAspect="1"/>
          </p:cNvPicPr>
          <p:nvPr/>
        </p:nvPicPr>
        <p:blipFill>
          <a:blip r:embed="rId3"/>
          <a:srcRect/>
          <a:stretch/>
        </p:blipFill>
        <p:spPr>
          <a:xfrm>
            <a:off x="5918200" y="2566671"/>
            <a:ext cx="355600" cy="177800"/>
          </a:xfrm>
          <a:prstGeom prst="rect">
            <a:avLst/>
          </a:prstGeom>
        </p:spPr>
      </p:pic>
      <p:sp>
        <p:nvSpPr>
          <p:cNvPr id="14" name="Shape 10"/>
          <p:cNvSpPr/>
          <p:nvPr/>
        </p:nvSpPr>
        <p:spPr>
          <a:xfrm>
            <a:off x="6429375" y="1923414"/>
            <a:ext cx="2139950" cy="1464310"/>
          </a:xfrm>
          <a:prstGeom prst="roundRect">
            <a:avLst>
              <a:gd name="adj" fmla="val 8456"/>
            </a:avLst>
          </a:prstGeom>
          <a:solidFill>
            <a:srgbClr val="FFFFFF"/>
          </a:solidFill>
          <a:ln w="6350">
            <a:solidFill>
              <a:srgbClr val="C5E0F3"/>
            </a:solidFill>
            <a:prstDash val="solid"/>
          </a:ln>
        </p:spPr>
      </p:sp>
      <p:sp>
        <p:nvSpPr>
          <p:cNvPr id="15" name="Text 11"/>
          <p:cNvSpPr/>
          <p:nvPr/>
        </p:nvSpPr>
        <p:spPr>
          <a:xfrm>
            <a:off x="6609080" y="2103121"/>
            <a:ext cx="183395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3</a:t>
            </a:r>
            <a:endParaRPr lang="en-US" sz="1400" dirty="0"/>
          </a:p>
        </p:txBody>
      </p:sp>
      <p:sp>
        <p:nvSpPr>
          <p:cNvPr id="16" name="Text 12"/>
          <p:cNvSpPr/>
          <p:nvPr/>
        </p:nvSpPr>
        <p:spPr>
          <a:xfrm>
            <a:off x="6609080" y="2402839"/>
            <a:ext cx="183395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JWT issued</a:t>
            </a:r>
            <a:endParaRPr lang="en-US" sz="1800" dirty="0"/>
          </a:p>
        </p:txBody>
      </p:sp>
      <p:sp>
        <p:nvSpPr>
          <p:cNvPr id="17" name="Text 13"/>
          <p:cNvSpPr/>
          <p:nvPr/>
        </p:nvSpPr>
        <p:spPr>
          <a:xfrm>
            <a:off x="6609080" y="2727961"/>
            <a:ext cx="183395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Token identifies the user</a:t>
            </a:r>
            <a:endParaRPr lang="en-US" sz="1400" dirty="0"/>
          </a:p>
        </p:txBody>
      </p:sp>
      <p:pic>
        <p:nvPicPr>
          <p:cNvPr id="18" name="Image 2" descr="arrow-right"/>
          <p:cNvPicPr>
            <a:picLocks noChangeAspect="1"/>
          </p:cNvPicPr>
          <p:nvPr/>
        </p:nvPicPr>
        <p:blipFill>
          <a:blip r:embed="rId3"/>
          <a:srcRect/>
          <a:stretch/>
        </p:blipFill>
        <p:spPr>
          <a:xfrm>
            <a:off x="8724900" y="2566671"/>
            <a:ext cx="355600" cy="177800"/>
          </a:xfrm>
          <a:prstGeom prst="rect">
            <a:avLst/>
          </a:prstGeom>
        </p:spPr>
      </p:pic>
      <p:sp>
        <p:nvSpPr>
          <p:cNvPr id="19" name="Shape 14"/>
          <p:cNvSpPr/>
          <p:nvPr/>
        </p:nvSpPr>
        <p:spPr>
          <a:xfrm>
            <a:off x="9236075" y="1923414"/>
            <a:ext cx="2139950" cy="1464310"/>
          </a:xfrm>
          <a:prstGeom prst="roundRect">
            <a:avLst>
              <a:gd name="adj" fmla="val 8456"/>
            </a:avLst>
          </a:prstGeom>
          <a:solidFill>
            <a:srgbClr val="FFFFFF"/>
          </a:solidFill>
          <a:ln w="6350">
            <a:solidFill>
              <a:srgbClr val="C5E0F3"/>
            </a:solidFill>
            <a:prstDash val="solid"/>
          </a:ln>
        </p:spPr>
      </p:sp>
      <p:sp>
        <p:nvSpPr>
          <p:cNvPr id="20" name="Text 15"/>
          <p:cNvSpPr/>
          <p:nvPr/>
        </p:nvSpPr>
        <p:spPr>
          <a:xfrm>
            <a:off x="9415780" y="2103121"/>
            <a:ext cx="183395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4</a:t>
            </a:r>
            <a:endParaRPr lang="en-US" sz="1400" dirty="0"/>
          </a:p>
        </p:txBody>
      </p:sp>
      <p:sp>
        <p:nvSpPr>
          <p:cNvPr id="21" name="Text 16"/>
          <p:cNvSpPr/>
          <p:nvPr/>
        </p:nvSpPr>
        <p:spPr>
          <a:xfrm>
            <a:off x="9415780" y="2402839"/>
            <a:ext cx="183395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Protected API</a:t>
            </a:r>
            <a:endParaRPr lang="en-US" sz="1800" dirty="0"/>
          </a:p>
        </p:txBody>
      </p:sp>
      <p:sp>
        <p:nvSpPr>
          <p:cNvPr id="22" name="Text 17"/>
          <p:cNvSpPr/>
          <p:nvPr/>
        </p:nvSpPr>
        <p:spPr>
          <a:xfrm>
            <a:off x="9415780" y="2727961"/>
            <a:ext cx="183395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Routes check the token</a:t>
            </a:r>
            <a:endParaRPr lang="en-US" sz="1400" dirty="0"/>
          </a:p>
        </p:txBody>
      </p:sp>
      <p:sp>
        <p:nvSpPr>
          <p:cNvPr id="23" name="Shape 18"/>
          <p:cNvSpPr/>
          <p:nvPr/>
        </p:nvSpPr>
        <p:spPr>
          <a:xfrm>
            <a:off x="815975" y="3673475"/>
            <a:ext cx="10560050" cy="1694180"/>
          </a:xfrm>
          <a:prstGeom prst="roundRect">
            <a:avLst>
              <a:gd name="adj" fmla="val 7309"/>
            </a:avLst>
          </a:prstGeom>
          <a:solidFill>
            <a:srgbClr val="FFFFFF"/>
          </a:solidFill>
          <a:ln w="6350">
            <a:solidFill>
              <a:srgbClr val="C5E0F3"/>
            </a:solidFill>
            <a:prstDash val="solid"/>
          </a:ln>
        </p:spPr>
      </p:sp>
      <p:sp>
        <p:nvSpPr>
          <p:cNvPr id="24" name="Text 19"/>
          <p:cNvSpPr/>
          <p:nvPr/>
        </p:nvSpPr>
        <p:spPr>
          <a:xfrm>
            <a:off x="1046480" y="3903982"/>
            <a:ext cx="1040201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Security practices</a:t>
            </a:r>
            <a:endParaRPr lang="en-US" sz="1800" dirty="0"/>
          </a:p>
        </p:txBody>
      </p:sp>
      <p:sp>
        <p:nvSpPr>
          <p:cNvPr id="25" name="Text 20"/>
          <p:cNvSpPr/>
          <p:nvPr/>
        </p:nvSpPr>
        <p:spPr>
          <a:xfrm>
            <a:off x="1117600" y="4279900"/>
            <a:ext cx="10323271"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3F5568"/>
                </a:solidFill>
                <a:latin typeface="DM Sans" pitchFamily="34" charset="0"/>
                <a:ea typeface="DM Sans" pitchFamily="34" charset="-122"/>
                <a:cs typeface="DM Sans" pitchFamily="34" charset="-120"/>
              </a:rPr>
              <a:t>Never commit .env files; store API keys securely</a:t>
            </a:r>
            <a:endParaRPr lang="en-US" sz="1500" dirty="0"/>
          </a:p>
          <a:p>
            <a:pPr marL="182880" indent="-182880" algn="l">
              <a:lnSpc>
                <a:spcPts val="2250"/>
              </a:lnSpc>
              <a:buSzPct val="100000"/>
              <a:buChar char="•"/>
            </a:pPr>
            <a:r>
              <a:rPr lang="en-US" sz="1500" dirty="0">
                <a:solidFill>
                  <a:srgbClr val="3F5568"/>
                </a:solidFill>
                <a:latin typeface="DM Sans" pitchFamily="34" charset="0"/>
                <a:ea typeface="DM Sans" pitchFamily="34" charset="-122"/>
                <a:cs typeface="DM Sans" pitchFamily="34" charset="-120"/>
              </a:rPr>
              <a:t>Rotate JWT secrets if they are compromised</a:t>
            </a:r>
            <a:endParaRPr lang="en-US" sz="1500" dirty="0"/>
          </a:p>
          <a:p>
            <a:pPr marL="182880" indent="-182880" algn="l">
              <a:lnSpc>
                <a:spcPts val="2250"/>
              </a:lnSpc>
              <a:buSzPct val="100000"/>
              <a:buChar char="•"/>
            </a:pPr>
            <a:r>
              <a:rPr lang="en-US" sz="1500" dirty="0">
                <a:solidFill>
                  <a:srgbClr val="3F5568"/>
                </a:solidFill>
                <a:latin typeface="DM Sans" pitchFamily="34" charset="0"/>
                <a:ea typeface="DM Sans" pitchFamily="34" charset="-122"/>
                <a:cs typeface="DM Sans" pitchFamily="34" charset="-120"/>
              </a:rPr>
              <a:t>Validate user input on both client and server</a:t>
            </a:r>
            <a:endParaRPr lang="en-US" sz="1500" dirty="0"/>
          </a:p>
        </p:txBody>
      </p:sp>
      <p:sp>
        <p:nvSpPr>
          <p:cNvPr id="26" name="Text 21"/>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27" name="Text 2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TASK MANAGEMENT</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Tasks with status and priority</a:t>
            </a:r>
            <a:endParaRPr lang="en-US" sz="3600" dirty="0"/>
          </a:p>
        </p:txBody>
      </p:sp>
      <p:sp>
        <p:nvSpPr>
          <p:cNvPr id="4" name="Text 2"/>
          <p:cNvSpPr/>
          <p:nvPr/>
        </p:nvSpPr>
        <p:spPr>
          <a:xfrm>
            <a:off x="815975" y="1948814"/>
            <a:ext cx="2404110" cy="643890"/>
          </a:xfrm>
          <a:prstGeom prst="roundRect">
            <a:avLst>
              <a:gd name="adj" fmla="val 15286"/>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2A43"/>
                </a:solidFill>
                <a:latin typeface="DM Sans" pitchFamily="34" charset="0"/>
                <a:ea typeface="DM Sans" pitchFamily="34" charset="-122"/>
                <a:cs typeface="DM Sans" pitchFamily="34" charset="-120"/>
              </a:rPr>
              <a:t>Create tasks</a:t>
            </a:r>
            <a:endParaRPr lang="en-US" sz="1600" dirty="0"/>
          </a:p>
        </p:txBody>
      </p:sp>
      <p:sp>
        <p:nvSpPr>
          <p:cNvPr id="5" name="Text 3"/>
          <p:cNvSpPr/>
          <p:nvPr/>
        </p:nvSpPr>
        <p:spPr>
          <a:xfrm>
            <a:off x="3353435" y="1948814"/>
            <a:ext cx="2404110" cy="643890"/>
          </a:xfrm>
          <a:prstGeom prst="roundRect">
            <a:avLst>
              <a:gd name="adj" fmla="val 15286"/>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2A43"/>
                </a:solidFill>
                <a:latin typeface="DM Sans" pitchFamily="34" charset="0"/>
                <a:ea typeface="DM Sans" pitchFamily="34" charset="-122"/>
                <a:cs typeface="DM Sans" pitchFamily="34" charset="-120"/>
              </a:rPr>
              <a:t>View tasks</a:t>
            </a:r>
            <a:endParaRPr lang="en-US" sz="1600" dirty="0"/>
          </a:p>
        </p:txBody>
      </p:sp>
      <p:sp>
        <p:nvSpPr>
          <p:cNvPr id="6" name="Text 4"/>
          <p:cNvSpPr/>
          <p:nvPr/>
        </p:nvSpPr>
        <p:spPr>
          <a:xfrm>
            <a:off x="815975" y="2726057"/>
            <a:ext cx="2404110" cy="643890"/>
          </a:xfrm>
          <a:prstGeom prst="roundRect">
            <a:avLst>
              <a:gd name="adj" fmla="val 15286"/>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2A43"/>
                </a:solidFill>
                <a:latin typeface="DM Sans" pitchFamily="34" charset="0"/>
                <a:ea typeface="DM Sans" pitchFamily="34" charset="-122"/>
                <a:cs typeface="DM Sans" pitchFamily="34" charset="-120"/>
              </a:rPr>
              <a:t>Update tasks</a:t>
            </a:r>
            <a:endParaRPr lang="en-US" sz="1600" dirty="0"/>
          </a:p>
        </p:txBody>
      </p:sp>
      <p:sp>
        <p:nvSpPr>
          <p:cNvPr id="7" name="Text 5"/>
          <p:cNvSpPr/>
          <p:nvPr/>
        </p:nvSpPr>
        <p:spPr>
          <a:xfrm>
            <a:off x="3353435" y="2726057"/>
            <a:ext cx="2404110" cy="643890"/>
          </a:xfrm>
          <a:prstGeom prst="roundRect">
            <a:avLst>
              <a:gd name="adj" fmla="val 15286"/>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2A43"/>
                </a:solidFill>
                <a:latin typeface="DM Sans" pitchFamily="34" charset="0"/>
                <a:ea typeface="DM Sans" pitchFamily="34" charset="-122"/>
                <a:cs typeface="DM Sans" pitchFamily="34" charset="-120"/>
              </a:rPr>
              <a:t>Delete tasks</a:t>
            </a:r>
            <a:endParaRPr lang="en-US" sz="1600" dirty="0"/>
          </a:p>
        </p:txBody>
      </p:sp>
      <p:sp>
        <p:nvSpPr>
          <p:cNvPr id="8" name="Text 6"/>
          <p:cNvSpPr/>
          <p:nvPr/>
        </p:nvSpPr>
        <p:spPr>
          <a:xfrm>
            <a:off x="815975" y="3503296"/>
            <a:ext cx="2404110" cy="928370"/>
          </a:xfrm>
          <a:prstGeom prst="roundRect">
            <a:avLst>
              <a:gd name="adj" fmla="val 10602"/>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Status tracking</a:t>
            </a:r>
            <a:endParaRPr lang="en-US" sz="1600" dirty="0"/>
          </a:p>
        </p:txBody>
      </p:sp>
      <p:sp>
        <p:nvSpPr>
          <p:cNvPr id="9" name="Text 7"/>
          <p:cNvSpPr/>
          <p:nvPr/>
        </p:nvSpPr>
        <p:spPr>
          <a:xfrm>
            <a:off x="3353435" y="3503296"/>
            <a:ext cx="2404110" cy="928370"/>
          </a:xfrm>
          <a:prstGeom prst="roundRect">
            <a:avLst>
              <a:gd name="adj" fmla="val 10602"/>
            </a:avLst>
          </a:prstGeom>
          <a:solidFill>
            <a:srgbClr val="F0F8FE"/>
          </a:solidFill>
          <a:ln w="6350">
            <a:solidFill>
              <a:srgbClr val="CFE6F6"/>
            </a:solidFill>
            <a:prstDash val="solid"/>
          </a:ln>
        </p:spPr>
        <p:txBody>
          <a:bodyPr wrap="square" lIns="150877" tIns="150877" rIns="89536" bIns="125477"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Priority management</a:t>
            </a:r>
            <a:endParaRPr lang="en-US" sz="1600" dirty="0"/>
          </a:p>
        </p:txBody>
      </p:sp>
      <p:sp>
        <p:nvSpPr>
          <p:cNvPr id="10" name="Shape 8"/>
          <p:cNvSpPr/>
          <p:nvPr/>
        </p:nvSpPr>
        <p:spPr>
          <a:xfrm>
            <a:off x="6017895" y="1948814"/>
            <a:ext cx="5358130" cy="2482850"/>
          </a:xfrm>
          <a:prstGeom prst="roundRect">
            <a:avLst>
              <a:gd name="adj" fmla="val 4987"/>
            </a:avLst>
          </a:prstGeom>
          <a:solidFill>
            <a:srgbClr val="E8F4FC"/>
          </a:solidFill>
          <a:ln w="6350">
            <a:solidFill>
              <a:srgbClr val="CFE6F6"/>
            </a:solidFill>
            <a:prstDash val="solid"/>
          </a:ln>
        </p:spPr>
      </p:sp>
      <p:sp>
        <p:nvSpPr>
          <p:cNvPr id="11" name="Text 9"/>
          <p:cNvSpPr/>
          <p:nvPr/>
        </p:nvSpPr>
        <p:spPr>
          <a:xfrm>
            <a:off x="6223000" y="2153921"/>
            <a:ext cx="509635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B6FA8"/>
                </a:solidFill>
                <a:latin typeface="DM Sans" pitchFamily="34" charset="0"/>
                <a:ea typeface="DM Sans" pitchFamily="34" charset="-122"/>
                <a:cs typeface="DM Sans" pitchFamily="34" charset="-120"/>
              </a:rPr>
              <a:t>ILLUSTRATIVE EXAMPLE</a:t>
            </a:r>
            <a:endParaRPr lang="en-US" sz="1200" dirty="0"/>
          </a:p>
        </p:txBody>
      </p:sp>
      <p:sp>
        <p:nvSpPr>
          <p:cNvPr id="12" name="Shape 10"/>
          <p:cNvSpPr/>
          <p:nvPr/>
        </p:nvSpPr>
        <p:spPr>
          <a:xfrm>
            <a:off x="6223000" y="2912747"/>
            <a:ext cx="4947920" cy="0"/>
          </a:xfrm>
          <a:prstGeom prst="line">
            <a:avLst/>
          </a:prstGeom>
          <a:noFill/>
          <a:ln w="6350">
            <a:solidFill>
              <a:srgbClr val="CFE6F6"/>
            </a:solidFill>
            <a:prstDash val="solid"/>
          </a:ln>
        </p:spPr>
      </p:sp>
      <p:sp>
        <p:nvSpPr>
          <p:cNvPr id="13" name="Text 11"/>
          <p:cNvSpPr/>
          <p:nvPr/>
        </p:nvSpPr>
        <p:spPr>
          <a:xfrm>
            <a:off x="6223000" y="2556511"/>
            <a:ext cx="247402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2A43"/>
                </a:solidFill>
                <a:latin typeface="DM Sans" pitchFamily="34" charset="0"/>
                <a:ea typeface="DM Sans" pitchFamily="34" charset="-122"/>
                <a:cs typeface="DM Sans" pitchFamily="34" charset="-120"/>
              </a:rPr>
              <a:t>Prepare project report</a:t>
            </a:r>
            <a:endParaRPr lang="en-US" sz="1500" dirty="0"/>
          </a:p>
        </p:txBody>
      </p:sp>
      <p:sp>
        <p:nvSpPr>
          <p:cNvPr id="14" name="Text 12"/>
          <p:cNvSpPr/>
          <p:nvPr/>
        </p:nvSpPr>
        <p:spPr>
          <a:xfrm>
            <a:off x="10587672" y="2545082"/>
            <a:ext cx="583247" cy="289560"/>
          </a:xfrm>
          <a:custGeom>
            <a:avLst/>
            <a:gdLst/>
            <a:ahLst/>
            <a:cxnLst/>
            <a:rect l="l" t="t" r="r" b="b"/>
            <a:pathLst>
              <a:path w="583247" h="289560">
                <a:moveTo>
                  <a:pt x="144780" y="0"/>
                </a:moveTo>
                <a:lnTo>
                  <a:pt x="438467" y="0"/>
                </a:lnTo>
                <a:arcTo wR="144780" hR="144780" stAng="16200000" swAng="5400000"/>
                <a:lnTo>
                  <a:pt x="583247" y="144780"/>
                </a:lnTo>
                <a:arcTo wR="144780" hR="144780" stAng="0" swAng="5400000"/>
                <a:lnTo>
                  <a:pt x="144780" y="289560"/>
                </a:lnTo>
                <a:arcTo wR="144780" hR="144780" stAng="5400000" swAng="5400000"/>
                <a:lnTo>
                  <a:pt x="0" y="144780"/>
                </a:lnTo>
                <a:arcTo wR="144780" hR="144780" stAng="10800000" swAng="5400000"/>
                <a:close/>
              </a:path>
            </a:pathLst>
          </a:custGeom>
          <a:solidFill>
            <a:srgbClr val="F8D9D6"/>
          </a:solidFill>
          <a:ln/>
        </p:spPr>
        <p:txBody>
          <a:bodyPr wrap="none" lIns="0" tIns="0" rIns="0" bIns="0" rtlCol="0" anchor="ctr">
            <a:normAutofit/>
          </a:bodyPr>
          <a:lstStyle/>
          <a:p>
            <a:pPr marL="0" indent="0" algn="ctr">
              <a:lnSpc>
                <a:spcPts val="1680"/>
              </a:lnSpc>
              <a:buNone/>
            </a:pPr>
            <a:r>
              <a:rPr lang="en-US" sz="1200" b="1" dirty="0">
                <a:solidFill>
                  <a:srgbClr val="7A1F1F"/>
                </a:solidFill>
                <a:latin typeface="DM Sans" pitchFamily="34" charset="0"/>
                <a:ea typeface="DM Sans" pitchFamily="34" charset="-122"/>
                <a:cs typeface="DM Sans" pitchFamily="34" charset="-120"/>
              </a:rPr>
              <a:t>High</a:t>
            </a:r>
            <a:endParaRPr lang="en-US" sz="1200" dirty="0"/>
          </a:p>
        </p:txBody>
      </p:sp>
      <p:sp>
        <p:nvSpPr>
          <p:cNvPr id="15" name="Shape 13"/>
          <p:cNvSpPr/>
          <p:nvPr/>
        </p:nvSpPr>
        <p:spPr>
          <a:xfrm>
            <a:off x="6223000" y="3461386"/>
            <a:ext cx="4947920" cy="0"/>
          </a:xfrm>
          <a:prstGeom prst="line">
            <a:avLst/>
          </a:prstGeom>
          <a:noFill/>
          <a:ln w="6350">
            <a:solidFill>
              <a:srgbClr val="CFE6F6"/>
            </a:solidFill>
            <a:prstDash val="solid"/>
          </a:ln>
        </p:spPr>
      </p:sp>
      <p:sp>
        <p:nvSpPr>
          <p:cNvPr id="16" name="Text 14"/>
          <p:cNvSpPr/>
          <p:nvPr/>
        </p:nvSpPr>
        <p:spPr>
          <a:xfrm>
            <a:off x="6223000" y="3105150"/>
            <a:ext cx="22569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2A43"/>
                </a:solidFill>
                <a:latin typeface="DM Sans" pitchFamily="34" charset="0"/>
                <a:ea typeface="DM Sans" pitchFamily="34" charset="-122"/>
                <a:cs typeface="DM Sans" pitchFamily="34" charset="-120"/>
              </a:rPr>
              <a:t>Review pull requests</a:t>
            </a:r>
            <a:endParaRPr lang="en-US" sz="1500" dirty="0"/>
          </a:p>
        </p:txBody>
      </p:sp>
      <p:sp>
        <p:nvSpPr>
          <p:cNvPr id="17" name="Text 15"/>
          <p:cNvSpPr/>
          <p:nvPr/>
        </p:nvSpPr>
        <p:spPr>
          <a:xfrm>
            <a:off x="10321925" y="3093721"/>
            <a:ext cx="848995" cy="289560"/>
          </a:xfrm>
          <a:custGeom>
            <a:avLst/>
            <a:gdLst/>
            <a:ahLst/>
            <a:cxnLst/>
            <a:rect l="l" t="t" r="r" b="b"/>
            <a:pathLst>
              <a:path w="848995" h="289560">
                <a:moveTo>
                  <a:pt x="144780" y="0"/>
                </a:moveTo>
                <a:lnTo>
                  <a:pt x="704215" y="0"/>
                </a:lnTo>
                <a:arcTo wR="144780" hR="144780" stAng="16200000" swAng="5400000"/>
                <a:lnTo>
                  <a:pt x="848995" y="144780"/>
                </a:lnTo>
                <a:arcTo wR="144780" hR="144780" stAng="0" swAng="5400000"/>
                <a:lnTo>
                  <a:pt x="144780" y="289560"/>
                </a:lnTo>
                <a:arcTo wR="144780" hR="144780" stAng="5400000" swAng="5400000"/>
                <a:lnTo>
                  <a:pt x="0" y="144780"/>
                </a:lnTo>
                <a:arcTo wR="144780" hR="144780" stAng="10800000" swAng="5400000"/>
                <a:close/>
              </a:path>
            </a:pathLst>
          </a:custGeom>
          <a:solidFill>
            <a:srgbClr val="FBE9B7"/>
          </a:solidFill>
          <a:ln/>
        </p:spPr>
        <p:txBody>
          <a:bodyPr wrap="none" lIns="0" tIns="0" rIns="0" bIns="0" rtlCol="0" anchor="ctr">
            <a:normAutofit/>
          </a:bodyPr>
          <a:lstStyle/>
          <a:p>
            <a:pPr marL="0" indent="0" algn="ctr">
              <a:lnSpc>
                <a:spcPts val="1680"/>
              </a:lnSpc>
              <a:buNone/>
            </a:pPr>
            <a:r>
              <a:rPr lang="en-US" sz="1200" b="1" dirty="0">
                <a:solidFill>
                  <a:srgbClr val="6B4A00"/>
                </a:solidFill>
                <a:latin typeface="DM Sans" pitchFamily="34" charset="0"/>
                <a:ea typeface="DM Sans" pitchFamily="34" charset="-122"/>
                <a:cs typeface="DM Sans" pitchFamily="34" charset="-120"/>
              </a:rPr>
              <a:t>Medium</a:t>
            </a:r>
            <a:endParaRPr lang="en-US" sz="1200" dirty="0"/>
          </a:p>
        </p:txBody>
      </p:sp>
      <p:sp>
        <p:nvSpPr>
          <p:cNvPr id="18" name="Text 16"/>
          <p:cNvSpPr/>
          <p:nvPr/>
        </p:nvSpPr>
        <p:spPr>
          <a:xfrm>
            <a:off x="6223000" y="3653789"/>
            <a:ext cx="21105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2A43"/>
                </a:solidFill>
                <a:latin typeface="DM Sans" pitchFamily="34" charset="0"/>
                <a:ea typeface="DM Sans" pitchFamily="34" charset="-122"/>
                <a:cs typeface="DM Sans" pitchFamily="34" charset="-120"/>
              </a:rPr>
              <a:t>Update team notes</a:t>
            </a:r>
            <a:endParaRPr lang="en-US" sz="1500" dirty="0"/>
          </a:p>
        </p:txBody>
      </p:sp>
      <p:sp>
        <p:nvSpPr>
          <p:cNvPr id="19" name="Text 17"/>
          <p:cNvSpPr/>
          <p:nvPr/>
        </p:nvSpPr>
        <p:spPr>
          <a:xfrm>
            <a:off x="10624424" y="3642361"/>
            <a:ext cx="546497" cy="289560"/>
          </a:xfrm>
          <a:custGeom>
            <a:avLst/>
            <a:gdLst/>
            <a:ahLst/>
            <a:cxnLst/>
            <a:rect l="l" t="t" r="r" b="b"/>
            <a:pathLst>
              <a:path w="546497" h="289560">
                <a:moveTo>
                  <a:pt x="144780" y="0"/>
                </a:moveTo>
                <a:lnTo>
                  <a:pt x="401717" y="0"/>
                </a:lnTo>
                <a:arcTo wR="144780" hR="144780" stAng="16200000" swAng="5400000"/>
                <a:lnTo>
                  <a:pt x="546497" y="144780"/>
                </a:lnTo>
                <a:arcTo wR="144780" hR="144780" stAng="0" swAng="5400000"/>
                <a:lnTo>
                  <a:pt x="144780" y="289560"/>
                </a:lnTo>
                <a:arcTo wR="144780" hR="144780" stAng="5400000" swAng="5400000"/>
                <a:lnTo>
                  <a:pt x="0" y="144780"/>
                </a:lnTo>
                <a:arcTo wR="144780" hR="144780" stAng="10800000" swAng="5400000"/>
                <a:close/>
              </a:path>
            </a:pathLst>
          </a:custGeom>
          <a:solidFill>
            <a:srgbClr val="CDEFE9"/>
          </a:solidFill>
          <a:ln/>
        </p:spPr>
        <p:txBody>
          <a:bodyPr wrap="none" lIns="0" tIns="0" rIns="0" bIns="0" rtlCol="0" anchor="ctr">
            <a:normAutofit/>
          </a:bodyPr>
          <a:lstStyle/>
          <a:p>
            <a:pPr marL="0" indent="0" algn="ctr">
              <a:lnSpc>
                <a:spcPts val="1680"/>
              </a:lnSpc>
              <a:buNone/>
            </a:pPr>
            <a:r>
              <a:rPr lang="en-US" sz="1200" b="1" dirty="0">
                <a:solidFill>
                  <a:srgbClr val="0B5B52"/>
                </a:solidFill>
                <a:latin typeface="DM Sans" pitchFamily="34" charset="0"/>
                <a:ea typeface="DM Sans" pitchFamily="34" charset="-122"/>
                <a:cs typeface="DM Sans" pitchFamily="34" charset="-120"/>
              </a:rPr>
              <a:t>Low</a:t>
            </a:r>
            <a:endParaRPr lang="en-US" sz="1200" dirty="0"/>
          </a:p>
        </p:txBody>
      </p:sp>
      <p:sp>
        <p:nvSpPr>
          <p:cNvPr id="20" name="Text 1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21" name="Text 19"/>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EVENT MANAGEMENT</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Keep every event in view</a:t>
            </a:r>
            <a:endParaRPr lang="en-US" sz="3600" dirty="0"/>
          </a:p>
        </p:txBody>
      </p:sp>
      <p:sp>
        <p:nvSpPr>
          <p:cNvPr id="4" name="Shape 2"/>
          <p:cNvSpPr/>
          <p:nvPr/>
        </p:nvSpPr>
        <p:spPr>
          <a:xfrm>
            <a:off x="815975" y="1948814"/>
            <a:ext cx="2482850" cy="1883410"/>
          </a:xfrm>
          <a:prstGeom prst="roundRect">
            <a:avLst>
              <a:gd name="adj" fmla="val 6575"/>
            </a:avLst>
          </a:prstGeom>
          <a:solidFill>
            <a:srgbClr val="FFFFFF"/>
          </a:solidFill>
          <a:ln w="6350">
            <a:solidFill>
              <a:srgbClr val="C5E0F3"/>
            </a:solidFill>
            <a:prstDash val="solid"/>
          </a:ln>
        </p:spPr>
      </p:sp>
      <p:sp>
        <p:nvSpPr>
          <p:cNvPr id="5" name="Text 3"/>
          <p:cNvSpPr/>
          <p:nvPr/>
        </p:nvSpPr>
        <p:spPr>
          <a:xfrm>
            <a:off x="1046480" y="2179321"/>
            <a:ext cx="20824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Create</a:t>
            </a:r>
            <a:endParaRPr lang="en-US" sz="1400" dirty="0"/>
          </a:p>
        </p:txBody>
      </p:sp>
      <p:sp>
        <p:nvSpPr>
          <p:cNvPr id="6" name="Text 4"/>
          <p:cNvSpPr/>
          <p:nvPr/>
        </p:nvSpPr>
        <p:spPr>
          <a:xfrm>
            <a:off x="1046480" y="2504439"/>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Add events</a:t>
            </a:r>
            <a:endParaRPr lang="en-US" sz="1800" dirty="0"/>
          </a:p>
        </p:txBody>
      </p:sp>
      <p:sp>
        <p:nvSpPr>
          <p:cNvPr id="7" name="Text 5"/>
          <p:cNvSpPr/>
          <p:nvPr/>
        </p:nvSpPr>
        <p:spPr>
          <a:xfrm>
            <a:off x="1046480" y="2854961"/>
            <a:ext cx="208249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Capture meetings and deadlines as they come up.</a:t>
            </a:r>
            <a:endParaRPr lang="en-US" sz="1400" dirty="0"/>
          </a:p>
        </p:txBody>
      </p:sp>
      <p:sp>
        <p:nvSpPr>
          <p:cNvPr id="8" name="Shape 6"/>
          <p:cNvSpPr/>
          <p:nvPr/>
        </p:nvSpPr>
        <p:spPr>
          <a:xfrm>
            <a:off x="3508375" y="1948814"/>
            <a:ext cx="2482850" cy="1883410"/>
          </a:xfrm>
          <a:prstGeom prst="roundRect">
            <a:avLst>
              <a:gd name="adj" fmla="val 6575"/>
            </a:avLst>
          </a:prstGeom>
          <a:solidFill>
            <a:srgbClr val="FFFFFF"/>
          </a:solidFill>
          <a:ln w="6350">
            <a:solidFill>
              <a:srgbClr val="C5E0F3"/>
            </a:solidFill>
            <a:prstDash val="solid"/>
          </a:ln>
        </p:spPr>
      </p:sp>
      <p:sp>
        <p:nvSpPr>
          <p:cNvPr id="9" name="Text 7"/>
          <p:cNvSpPr/>
          <p:nvPr/>
        </p:nvSpPr>
        <p:spPr>
          <a:xfrm>
            <a:off x="3738880" y="2179321"/>
            <a:ext cx="20824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Update</a:t>
            </a:r>
            <a:endParaRPr lang="en-US" sz="1400" dirty="0"/>
          </a:p>
        </p:txBody>
      </p:sp>
      <p:sp>
        <p:nvSpPr>
          <p:cNvPr id="10" name="Text 8"/>
          <p:cNvSpPr/>
          <p:nvPr/>
        </p:nvSpPr>
        <p:spPr>
          <a:xfrm>
            <a:off x="3738880" y="2504439"/>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Edit details</a:t>
            </a:r>
            <a:endParaRPr lang="en-US" sz="1800" dirty="0"/>
          </a:p>
        </p:txBody>
      </p:sp>
      <p:sp>
        <p:nvSpPr>
          <p:cNvPr id="11" name="Text 9"/>
          <p:cNvSpPr/>
          <p:nvPr/>
        </p:nvSpPr>
        <p:spPr>
          <a:xfrm>
            <a:off x="3738880" y="2854961"/>
            <a:ext cx="208249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Adjust events when plans change.</a:t>
            </a:r>
            <a:endParaRPr lang="en-US" sz="1400" dirty="0"/>
          </a:p>
        </p:txBody>
      </p:sp>
      <p:sp>
        <p:nvSpPr>
          <p:cNvPr id="12" name="Shape 10"/>
          <p:cNvSpPr/>
          <p:nvPr/>
        </p:nvSpPr>
        <p:spPr>
          <a:xfrm>
            <a:off x="6200775" y="1948814"/>
            <a:ext cx="2482850" cy="1883410"/>
          </a:xfrm>
          <a:prstGeom prst="roundRect">
            <a:avLst>
              <a:gd name="adj" fmla="val 6575"/>
            </a:avLst>
          </a:prstGeom>
          <a:solidFill>
            <a:srgbClr val="FFFFFF"/>
          </a:solidFill>
          <a:ln w="6350">
            <a:solidFill>
              <a:srgbClr val="C5E0F3"/>
            </a:solidFill>
            <a:prstDash val="solid"/>
          </a:ln>
        </p:spPr>
      </p:sp>
      <p:sp>
        <p:nvSpPr>
          <p:cNvPr id="13" name="Text 11"/>
          <p:cNvSpPr/>
          <p:nvPr/>
        </p:nvSpPr>
        <p:spPr>
          <a:xfrm>
            <a:off x="6431280" y="2179321"/>
            <a:ext cx="20824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Delete</a:t>
            </a:r>
            <a:endParaRPr lang="en-US" sz="1400" dirty="0"/>
          </a:p>
        </p:txBody>
      </p:sp>
      <p:sp>
        <p:nvSpPr>
          <p:cNvPr id="14" name="Text 12"/>
          <p:cNvSpPr/>
          <p:nvPr/>
        </p:nvSpPr>
        <p:spPr>
          <a:xfrm>
            <a:off x="6431280" y="2504439"/>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Remove events</a:t>
            </a:r>
            <a:endParaRPr lang="en-US" sz="1800" dirty="0"/>
          </a:p>
        </p:txBody>
      </p:sp>
      <p:sp>
        <p:nvSpPr>
          <p:cNvPr id="15" name="Text 13"/>
          <p:cNvSpPr/>
          <p:nvPr/>
        </p:nvSpPr>
        <p:spPr>
          <a:xfrm>
            <a:off x="6431280" y="2854961"/>
            <a:ext cx="208249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Clear out events that no longer apply.</a:t>
            </a:r>
            <a:endParaRPr lang="en-US" sz="1400" dirty="0"/>
          </a:p>
        </p:txBody>
      </p:sp>
      <p:sp>
        <p:nvSpPr>
          <p:cNvPr id="16" name="Shape 14"/>
          <p:cNvSpPr/>
          <p:nvPr/>
        </p:nvSpPr>
        <p:spPr>
          <a:xfrm>
            <a:off x="8893175" y="1948814"/>
            <a:ext cx="2482850" cy="1883410"/>
          </a:xfrm>
          <a:prstGeom prst="roundRect">
            <a:avLst>
              <a:gd name="adj" fmla="val 6575"/>
            </a:avLst>
          </a:prstGeom>
          <a:solidFill>
            <a:srgbClr val="FFFFFF"/>
          </a:solidFill>
          <a:ln w="6350">
            <a:solidFill>
              <a:srgbClr val="C5E0F3"/>
            </a:solidFill>
            <a:prstDash val="solid"/>
          </a:ln>
        </p:spPr>
      </p:sp>
      <p:sp>
        <p:nvSpPr>
          <p:cNvPr id="17" name="Text 15"/>
          <p:cNvSpPr/>
          <p:nvPr/>
        </p:nvSpPr>
        <p:spPr>
          <a:xfrm>
            <a:off x="9123680" y="2179321"/>
            <a:ext cx="20824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FA8"/>
                </a:solidFill>
                <a:latin typeface="DM Sans" pitchFamily="34" charset="0"/>
                <a:ea typeface="DM Sans" pitchFamily="34" charset="-122"/>
                <a:cs typeface="DM Sans" pitchFamily="34" charset="-120"/>
              </a:rPr>
              <a:t>View</a:t>
            </a:r>
            <a:endParaRPr lang="en-US" sz="1400" dirty="0"/>
          </a:p>
        </p:txBody>
      </p:sp>
      <p:sp>
        <p:nvSpPr>
          <p:cNvPr id="18" name="Text 16"/>
          <p:cNvSpPr/>
          <p:nvPr/>
        </p:nvSpPr>
        <p:spPr>
          <a:xfrm>
            <a:off x="9123680" y="2504439"/>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Upcoming list</a:t>
            </a:r>
            <a:endParaRPr lang="en-US" sz="1800" dirty="0"/>
          </a:p>
        </p:txBody>
      </p:sp>
      <p:sp>
        <p:nvSpPr>
          <p:cNvPr id="19" name="Text 17"/>
          <p:cNvSpPr/>
          <p:nvPr/>
        </p:nvSpPr>
        <p:spPr>
          <a:xfrm>
            <a:off x="9123680" y="2854961"/>
            <a:ext cx="208249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See what is coming next at a glance.</a:t>
            </a:r>
            <a:endParaRPr lang="en-US" sz="1400" dirty="0"/>
          </a:p>
        </p:txBody>
      </p:sp>
      <p:sp>
        <p:nvSpPr>
          <p:cNvPr id="20" name="Shape 18"/>
          <p:cNvSpPr/>
          <p:nvPr/>
        </p:nvSpPr>
        <p:spPr>
          <a:xfrm>
            <a:off x="815975" y="4143375"/>
            <a:ext cx="10560050" cy="1043940"/>
          </a:xfrm>
          <a:prstGeom prst="roundRect">
            <a:avLst>
              <a:gd name="adj" fmla="val 11861"/>
            </a:avLst>
          </a:prstGeom>
          <a:solidFill>
            <a:srgbClr val="FFFFFF"/>
          </a:solidFill>
          <a:ln w="6350">
            <a:solidFill>
              <a:srgbClr val="C5E0F3"/>
            </a:solidFill>
            <a:prstDash val="solid"/>
          </a:ln>
        </p:spPr>
      </p:sp>
      <p:pic>
        <p:nvPicPr>
          <p:cNvPr id="21" name="Image 0" descr="Clock"/>
          <p:cNvPicPr>
            <a:picLocks noChangeAspect="1"/>
          </p:cNvPicPr>
          <p:nvPr/>
        </p:nvPicPr>
        <p:blipFill>
          <a:blip r:embed="rId3"/>
          <a:srcRect/>
          <a:stretch/>
        </p:blipFill>
        <p:spPr>
          <a:xfrm>
            <a:off x="1046480" y="4462146"/>
            <a:ext cx="406400" cy="406400"/>
          </a:xfrm>
          <a:prstGeom prst="rect">
            <a:avLst/>
          </a:prstGeom>
        </p:spPr>
      </p:pic>
      <p:sp>
        <p:nvSpPr>
          <p:cNvPr id="22" name="Text 19"/>
          <p:cNvSpPr/>
          <p:nvPr/>
        </p:nvSpPr>
        <p:spPr>
          <a:xfrm>
            <a:off x="1605280" y="4373882"/>
            <a:ext cx="9826447" cy="60833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0B2A43"/>
                </a:solidFill>
                <a:latin typeface="DM Sans" pitchFamily="34" charset="0"/>
                <a:ea typeface="DM Sans" pitchFamily="34" charset="-122"/>
                <a:cs typeface="DM Sans" pitchFamily="34" charset="-120"/>
              </a:rPr>
              <a:t>Tasks track what needs doing. Events track when things happen. Together they show the full day.</a:t>
            </a:r>
            <a:endParaRPr lang="en-US" sz="1700" dirty="0"/>
          </a:p>
        </p:txBody>
      </p:sp>
      <p:sp>
        <p:nvSpPr>
          <p:cNvPr id="23" name="Text 20"/>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24" name="Text 21"/>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AI PLANNER</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A daily plan generated by Google Gemini</a:t>
            </a:r>
            <a:endParaRPr lang="en-US" sz="3600" dirty="0"/>
          </a:p>
        </p:txBody>
      </p:sp>
      <p:sp>
        <p:nvSpPr>
          <p:cNvPr id="4" name="Text 2"/>
          <p:cNvSpPr/>
          <p:nvPr/>
        </p:nvSpPr>
        <p:spPr>
          <a:xfrm>
            <a:off x="812800" y="1945639"/>
            <a:ext cx="3662680" cy="98552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B2A43"/>
                </a:solidFill>
                <a:latin typeface="DM Sans" pitchFamily="34" charset="0"/>
                <a:ea typeface="DM Sans" pitchFamily="34" charset="-122"/>
                <a:cs typeface="DM Sans" pitchFamily="34" charset="-120"/>
              </a:rPr>
              <a:t>The planner turns the day's workload into a schedule you can act on.</a:t>
            </a:r>
            <a:endParaRPr lang="en-US" sz="1800" dirty="0"/>
          </a:p>
        </p:txBody>
      </p:sp>
      <p:sp>
        <p:nvSpPr>
          <p:cNvPr id="5" name="Text 3"/>
          <p:cNvSpPr/>
          <p:nvPr/>
        </p:nvSpPr>
        <p:spPr>
          <a:xfrm>
            <a:off x="812800" y="3058161"/>
            <a:ext cx="366268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F5568"/>
                </a:solidFill>
                <a:latin typeface="DM Sans" pitchFamily="34" charset="0"/>
                <a:ea typeface="DM Sans" pitchFamily="34" charset="-122"/>
                <a:cs typeface="DM Sans" pitchFamily="34" charset="-120"/>
              </a:rPr>
              <a:t>Requests go through the Express backend, so the GEMINI_API_KEY stays server-side in the backend .env file.</a:t>
            </a:r>
            <a:endParaRPr lang="en-US" sz="1500" dirty="0"/>
          </a:p>
        </p:txBody>
      </p:sp>
      <p:sp>
        <p:nvSpPr>
          <p:cNvPr id="6" name="Shape 4"/>
          <p:cNvSpPr/>
          <p:nvPr/>
        </p:nvSpPr>
        <p:spPr>
          <a:xfrm>
            <a:off x="4727575" y="1948814"/>
            <a:ext cx="6648450" cy="911860"/>
          </a:xfrm>
          <a:prstGeom prst="roundRect">
            <a:avLst>
              <a:gd name="adj" fmla="val 13579"/>
            </a:avLst>
          </a:prstGeom>
          <a:solidFill>
            <a:srgbClr val="F0F8FE"/>
          </a:solidFill>
          <a:ln w="6350">
            <a:solidFill>
              <a:srgbClr val="CFE6F6"/>
            </a:solidFill>
            <a:prstDash val="solid"/>
          </a:ln>
        </p:spPr>
      </p:sp>
      <p:sp>
        <p:nvSpPr>
          <p:cNvPr id="7" name="Text 5"/>
          <p:cNvSpPr/>
          <p:nvPr/>
        </p:nvSpPr>
        <p:spPr>
          <a:xfrm>
            <a:off x="4958080" y="2155825"/>
            <a:ext cx="4064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B6FA8"/>
                </a:solidFill>
                <a:latin typeface="DM Sans" pitchFamily="34" charset="0"/>
                <a:ea typeface="DM Sans" pitchFamily="34" charset="-122"/>
                <a:cs typeface="DM Sans" pitchFamily="34" charset="-120"/>
              </a:rPr>
              <a:t>1</a:t>
            </a:r>
            <a:endParaRPr lang="en-US" sz="2800" dirty="0"/>
          </a:p>
        </p:txBody>
      </p:sp>
      <p:sp>
        <p:nvSpPr>
          <p:cNvPr id="8" name="Text 6"/>
          <p:cNvSpPr/>
          <p:nvPr/>
        </p:nvSpPr>
        <p:spPr>
          <a:xfrm>
            <a:off x="5491480" y="2128521"/>
            <a:ext cx="582366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Generate</a:t>
            </a:r>
            <a:endParaRPr lang="en-US" sz="1800" dirty="0"/>
          </a:p>
        </p:txBody>
      </p:sp>
      <p:sp>
        <p:nvSpPr>
          <p:cNvPr id="9" name="Text 7"/>
          <p:cNvSpPr/>
          <p:nvPr/>
        </p:nvSpPr>
        <p:spPr>
          <a:xfrm>
            <a:off x="5491480" y="2440939"/>
            <a:ext cx="5823661"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568"/>
                </a:solidFill>
                <a:latin typeface="DM Sans" pitchFamily="34" charset="0"/>
                <a:ea typeface="DM Sans" pitchFamily="34" charset="-122"/>
                <a:cs typeface="DM Sans" pitchFamily="34" charset="-120"/>
              </a:rPr>
              <a:t>Request an AI-powered plan for the day.</a:t>
            </a:r>
            <a:endParaRPr lang="en-US" sz="1400" dirty="0"/>
          </a:p>
        </p:txBody>
      </p:sp>
      <p:sp>
        <p:nvSpPr>
          <p:cNvPr id="10" name="Shape 8"/>
          <p:cNvSpPr/>
          <p:nvPr/>
        </p:nvSpPr>
        <p:spPr>
          <a:xfrm>
            <a:off x="4727575" y="2994025"/>
            <a:ext cx="6648450" cy="911860"/>
          </a:xfrm>
          <a:prstGeom prst="roundRect">
            <a:avLst>
              <a:gd name="adj" fmla="val 13579"/>
            </a:avLst>
          </a:prstGeom>
          <a:solidFill>
            <a:srgbClr val="F0F8FE"/>
          </a:solidFill>
          <a:ln w="6350">
            <a:solidFill>
              <a:srgbClr val="CFE6F6"/>
            </a:solidFill>
            <a:prstDash val="solid"/>
          </a:ln>
        </p:spPr>
      </p:sp>
      <p:sp>
        <p:nvSpPr>
          <p:cNvPr id="11" name="Text 9"/>
          <p:cNvSpPr/>
          <p:nvPr/>
        </p:nvSpPr>
        <p:spPr>
          <a:xfrm>
            <a:off x="4958080" y="3201036"/>
            <a:ext cx="4064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B6FA8"/>
                </a:solidFill>
                <a:latin typeface="DM Sans" pitchFamily="34" charset="0"/>
                <a:ea typeface="DM Sans" pitchFamily="34" charset="-122"/>
                <a:cs typeface="DM Sans" pitchFamily="34" charset="-120"/>
              </a:rPr>
              <a:t>2</a:t>
            </a:r>
            <a:endParaRPr lang="en-US" sz="2800" dirty="0"/>
          </a:p>
        </p:txBody>
      </p:sp>
      <p:sp>
        <p:nvSpPr>
          <p:cNvPr id="12" name="Text 10"/>
          <p:cNvSpPr/>
          <p:nvPr/>
        </p:nvSpPr>
        <p:spPr>
          <a:xfrm>
            <a:off x="5491480" y="3173732"/>
            <a:ext cx="582366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Review</a:t>
            </a:r>
            <a:endParaRPr lang="en-US" sz="1800" dirty="0"/>
          </a:p>
        </p:txBody>
      </p:sp>
      <p:sp>
        <p:nvSpPr>
          <p:cNvPr id="13" name="Text 11"/>
          <p:cNvSpPr/>
          <p:nvPr/>
        </p:nvSpPr>
        <p:spPr>
          <a:xfrm>
            <a:off x="5491480" y="3486150"/>
            <a:ext cx="5823661"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568"/>
                </a:solidFill>
                <a:latin typeface="DM Sans" pitchFamily="34" charset="0"/>
                <a:ea typeface="DM Sans" pitchFamily="34" charset="-122"/>
                <a:cs typeface="DM Sans" pitchFamily="34" charset="-120"/>
              </a:rPr>
              <a:t>Read the smart scheduling suggestions.</a:t>
            </a:r>
            <a:endParaRPr lang="en-US" sz="1400" dirty="0"/>
          </a:p>
        </p:txBody>
      </p:sp>
      <p:sp>
        <p:nvSpPr>
          <p:cNvPr id="14" name="Shape 12"/>
          <p:cNvSpPr/>
          <p:nvPr/>
        </p:nvSpPr>
        <p:spPr>
          <a:xfrm>
            <a:off x="4727575" y="4039239"/>
            <a:ext cx="6648450" cy="911860"/>
          </a:xfrm>
          <a:prstGeom prst="roundRect">
            <a:avLst>
              <a:gd name="adj" fmla="val 13579"/>
            </a:avLst>
          </a:prstGeom>
          <a:solidFill>
            <a:srgbClr val="F0F8FE"/>
          </a:solidFill>
          <a:ln w="6350">
            <a:solidFill>
              <a:srgbClr val="CFE6F6"/>
            </a:solidFill>
            <a:prstDash val="solid"/>
          </a:ln>
        </p:spPr>
      </p:sp>
      <p:sp>
        <p:nvSpPr>
          <p:cNvPr id="15" name="Text 13"/>
          <p:cNvSpPr/>
          <p:nvPr/>
        </p:nvSpPr>
        <p:spPr>
          <a:xfrm>
            <a:off x="4958080" y="4246246"/>
            <a:ext cx="4064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B6FA8"/>
                </a:solidFill>
                <a:latin typeface="DM Sans" pitchFamily="34" charset="0"/>
                <a:ea typeface="DM Sans" pitchFamily="34" charset="-122"/>
                <a:cs typeface="DM Sans" pitchFamily="34" charset="-120"/>
              </a:rPr>
              <a:t>3</a:t>
            </a:r>
            <a:endParaRPr lang="en-US" sz="2800" dirty="0"/>
          </a:p>
        </p:txBody>
      </p:sp>
      <p:sp>
        <p:nvSpPr>
          <p:cNvPr id="16" name="Text 14"/>
          <p:cNvSpPr/>
          <p:nvPr/>
        </p:nvSpPr>
        <p:spPr>
          <a:xfrm>
            <a:off x="5491480" y="4218942"/>
            <a:ext cx="582366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A43"/>
                </a:solidFill>
                <a:latin typeface="DM Sans" pitchFamily="34" charset="0"/>
                <a:ea typeface="DM Sans" pitchFamily="34" charset="-122"/>
                <a:cs typeface="DM Sans" pitchFamily="34" charset="-120"/>
              </a:rPr>
              <a:t>Accept</a:t>
            </a:r>
            <a:endParaRPr lang="en-US" sz="1800" dirty="0"/>
          </a:p>
        </p:txBody>
      </p:sp>
      <p:sp>
        <p:nvSpPr>
          <p:cNvPr id="17" name="Text 15"/>
          <p:cNvSpPr/>
          <p:nvPr/>
        </p:nvSpPr>
        <p:spPr>
          <a:xfrm>
            <a:off x="5491480" y="4531364"/>
            <a:ext cx="5823661"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568"/>
                </a:solidFill>
                <a:latin typeface="DM Sans" pitchFamily="34" charset="0"/>
                <a:ea typeface="DM Sans" pitchFamily="34" charset="-122"/>
                <a:cs typeface="DM Sans" pitchFamily="34" charset="-120"/>
              </a:rPr>
              <a:t>Accept the plan to put it to use.</a:t>
            </a:r>
            <a:endParaRPr lang="en-US" sz="1400" dirty="0"/>
          </a:p>
        </p:txBody>
      </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DASHBOARD AND ANALYTICS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See progress at a glance</a:t>
            </a:r>
            <a:endParaRPr lang="en-US" sz="3600" dirty="0"/>
          </a:p>
        </p:txBody>
      </p:sp>
      <p:sp>
        <p:nvSpPr>
          <p:cNvPr id="4" name="Shape 2"/>
          <p:cNvSpPr/>
          <p:nvPr/>
        </p:nvSpPr>
        <p:spPr>
          <a:xfrm>
            <a:off x="815975" y="1948817"/>
            <a:ext cx="3295650" cy="1457325"/>
          </a:xfrm>
          <a:prstGeom prst="roundRect">
            <a:avLst>
              <a:gd name="adj" fmla="val 8497"/>
            </a:avLst>
          </a:prstGeom>
          <a:solidFill>
            <a:srgbClr val="FFFFFF"/>
          </a:solidFill>
          <a:ln w="6350">
            <a:solidFill>
              <a:srgbClr val="C5E0F3"/>
            </a:solidFill>
            <a:prstDash val="solid"/>
          </a:ln>
        </p:spPr>
      </p:sp>
      <p:pic>
        <p:nvPicPr>
          <p:cNvPr id="5" name="Image 0" descr="Check"/>
          <p:cNvPicPr>
            <a:picLocks noChangeAspect="1"/>
          </p:cNvPicPr>
          <p:nvPr/>
        </p:nvPicPr>
        <p:blipFill>
          <a:blip r:embed="rId3"/>
          <a:srcRect/>
          <a:stretch/>
        </p:blipFill>
        <p:spPr>
          <a:xfrm>
            <a:off x="1021080" y="2153921"/>
            <a:ext cx="330200" cy="330200"/>
          </a:xfrm>
          <a:prstGeom prst="rect">
            <a:avLst/>
          </a:prstGeom>
        </p:spPr>
      </p:pic>
      <p:sp>
        <p:nvSpPr>
          <p:cNvPr id="6" name="Text 3"/>
          <p:cNvSpPr/>
          <p:nvPr/>
        </p:nvSpPr>
        <p:spPr>
          <a:xfrm>
            <a:off x="1021080" y="2547621"/>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2A43"/>
                </a:solidFill>
                <a:latin typeface="DM Sans" pitchFamily="34" charset="0"/>
                <a:ea typeface="DM Sans" pitchFamily="34" charset="-122"/>
                <a:cs typeface="DM Sans" pitchFamily="34" charset="-120"/>
              </a:rPr>
              <a:t>Task summary</a:t>
            </a:r>
            <a:endParaRPr lang="en-US" sz="1700" dirty="0"/>
          </a:p>
        </p:txBody>
      </p:sp>
      <p:sp>
        <p:nvSpPr>
          <p:cNvPr id="7" name="Text 4"/>
          <p:cNvSpPr/>
          <p:nvPr/>
        </p:nvSpPr>
        <p:spPr>
          <a:xfrm>
            <a:off x="1021080" y="2870200"/>
            <a:ext cx="2972003"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Where every task stands.</a:t>
            </a:r>
            <a:endParaRPr lang="en-US" sz="1400" dirty="0"/>
          </a:p>
        </p:txBody>
      </p:sp>
      <p:sp>
        <p:nvSpPr>
          <p:cNvPr id="8" name="Shape 5"/>
          <p:cNvSpPr/>
          <p:nvPr/>
        </p:nvSpPr>
        <p:spPr>
          <a:xfrm>
            <a:off x="4270375" y="1948817"/>
            <a:ext cx="3295650" cy="1457325"/>
          </a:xfrm>
          <a:prstGeom prst="roundRect">
            <a:avLst>
              <a:gd name="adj" fmla="val 8497"/>
            </a:avLst>
          </a:prstGeom>
          <a:solidFill>
            <a:srgbClr val="FFFFFF"/>
          </a:solidFill>
          <a:ln w="6350">
            <a:solidFill>
              <a:srgbClr val="C5E0F3"/>
            </a:solidFill>
            <a:prstDash val="solid"/>
          </a:ln>
        </p:spPr>
      </p:sp>
      <p:pic>
        <p:nvPicPr>
          <p:cNvPr id="9" name="Image 1" descr="Clock"/>
          <p:cNvPicPr>
            <a:picLocks noChangeAspect="1"/>
          </p:cNvPicPr>
          <p:nvPr/>
        </p:nvPicPr>
        <p:blipFill>
          <a:blip r:embed="rId4"/>
          <a:srcRect/>
          <a:stretch/>
        </p:blipFill>
        <p:spPr>
          <a:xfrm>
            <a:off x="4475480" y="2153921"/>
            <a:ext cx="330200" cy="330200"/>
          </a:xfrm>
          <a:prstGeom prst="rect">
            <a:avLst/>
          </a:prstGeom>
        </p:spPr>
      </p:pic>
      <p:sp>
        <p:nvSpPr>
          <p:cNvPr id="10" name="Text 6"/>
          <p:cNvSpPr/>
          <p:nvPr/>
        </p:nvSpPr>
        <p:spPr>
          <a:xfrm>
            <a:off x="4475480" y="2547621"/>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2A43"/>
                </a:solidFill>
                <a:latin typeface="DM Sans" pitchFamily="34" charset="0"/>
                <a:ea typeface="DM Sans" pitchFamily="34" charset="-122"/>
                <a:cs typeface="DM Sans" pitchFamily="34" charset="-120"/>
              </a:rPr>
              <a:t>Event summary</a:t>
            </a:r>
            <a:endParaRPr lang="en-US" sz="1700" dirty="0"/>
          </a:p>
        </p:txBody>
      </p:sp>
      <p:sp>
        <p:nvSpPr>
          <p:cNvPr id="11" name="Text 7"/>
          <p:cNvSpPr/>
          <p:nvPr/>
        </p:nvSpPr>
        <p:spPr>
          <a:xfrm>
            <a:off x="4475480" y="2870200"/>
            <a:ext cx="2972003"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What is scheduled ahead.</a:t>
            </a:r>
            <a:endParaRPr lang="en-US" sz="1400" dirty="0"/>
          </a:p>
        </p:txBody>
      </p:sp>
      <p:sp>
        <p:nvSpPr>
          <p:cNvPr id="12" name="Shape 8"/>
          <p:cNvSpPr/>
          <p:nvPr/>
        </p:nvSpPr>
        <p:spPr>
          <a:xfrm>
            <a:off x="815975" y="3564892"/>
            <a:ext cx="3295650" cy="1457325"/>
          </a:xfrm>
          <a:prstGeom prst="roundRect">
            <a:avLst>
              <a:gd name="adj" fmla="val 8497"/>
            </a:avLst>
          </a:prstGeom>
          <a:solidFill>
            <a:srgbClr val="FFFFFF"/>
          </a:solidFill>
          <a:ln w="6350">
            <a:solidFill>
              <a:srgbClr val="C5E0F3"/>
            </a:solidFill>
            <a:prstDash val="solid"/>
          </a:ln>
        </p:spPr>
      </p:sp>
      <p:pic>
        <p:nvPicPr>
          <p:cNvPr id="13" name="Image 2" descr="Activity"/>
          <p:cNvPicPr>
            <a:picLocks noChangeAspect="1"/>
          </p:cNvPicPr>
          <p:nvPr/>
        </p:nvPicPr>
        <p:blipFill>
          <a:blip r:embed="rId5"/>
          <a:srcRect/>
          <a:stretch/>
        </p:blipFill>
        <p:spPr>
          <a:xfrm>
            <a:off x="1021080" y="3769996"/>
            <a:ext cx="330200" cy="330200"/>
          </a:xfrm>
          <a:prstGeom prst="rect">
            <a:avLst/>
          </a:prstGeom>
        </p:spPr>
      </p:pic>
      <p:sp>
        <p:nvSpPr>
          <p:cNvPr id="14" name="Text 9"/>
          <p:cNvSpPr/>
          <p:nvPr/>
        </p:nvSpPr>
        <p:spPr>
          <a:xfrm>
            <a:off x="1021080" y="4163696"/>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2A43"/>
                </a:solidFill>
                <a:latin typeface="DM Sans" pitchFamily="34" charset="0"/>
                <a:ea typeface="DM Sans" pitchFamily="34" charset="-122"/>
                <a:cs typeface="DM Sans" pitchFamily="34" charset="-120"/>
              </a:rPr>
              <a:t>Productivity</a:t>
            </a:r>
            <a:endParaRPr lang="en-US" sz="1700" dirty="0"/>
          </a:p>
        </p:txBody>
      </p:sp>
      <p:sp>
        <p:nvSpPr>
          <p:cNvPr id="15" name="Text 10"/>
          <p:cNvSpPr/>
          <p:nvPr/>
        </p:nvSpPr>
        <p:spPr>
          <a:xfrm>
            <a:off x="1021080" y="4486275"/>
            <a:ext cx="2972003"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Trends in how you work.</a:t>
            </a:r>
            <a:endParaRPr lang="en-US" sz="1400" dirty="0"/>
          </a:p>
        </p:txBody>
      </p:sp>
      <p:sp>
        <p:nvSpPr>
          <p:cNvPr id="16" name="Shape 11"/>
          <p:cNvSpPr/>
          <p:nvPr/>
        </p:nvSpPr>
        <p:spPr>
          <a:xfrm>
            <a:off x="4270375" y="3564892"/>
            <a:ext cx="3295650" cy="1457325"/>
          </a:xfrm>
          <a:prstGeom prst="roundRect">
            <a:avLst>
              <a:gd name="adj" fmla="val 8497"/>
            </a:avLst>
          </a:prstGeom>
          <a:solidFill>
            <a:srgbClr val="FFFFFF"/>
          </a:solidFill>
          <a:ln w="6350">
            <a:solidFill>
              <a:srgbClr val="C5E0F3"/>
            </a:solidFill>
            <a:prstDash val="solid"/>
          </a:ln>
        </p:spPr>
      </p:sp>
      <p:pic>
        <p:nvPicPr>
          <p:cNvPr id="17" name="Image 3" descr="Chart"/>
          <p:cNvPicPr>
            <a:picLocks noChangeAspect="1"/>
          </p:cNvPicPr>
          <p:nvPr/>
        </p:nvPicPr>
        <p:blipFill>
          <a:blip r:embed="rId6"/>
          <a:srcRect/>
          <a:stretch/>
        </p:blipFill>
        <p:spPr>
          <a:xfrm>
            <a:off x="4475480" y="3769996"/>
            <a:ext cx="330200" cy="330200"/>
          </a:xfrm>
          <a:prstGeom prst="rect">
            <a:avLst/>
          </a:prstGeom>
        </p:spPr>
      </p:pic>
      <p:sp>
        <p:nvSpPr>
          <p:cNvPr id="18" name="Text 12"/>
          <p:cNvSpPr/>
          <p:nvPr/>
        </p:nvSpPr>
        <p:spPr>
          <a:xfrm>
            <a:off x="4475480" y="4163696"/>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2A43"/>
                </a:solidFill>
                <a:latin typeface="DM Sans" pitchFamily="34" charset="0"/>
                <a:ea typeface="DM Sans" pitchFamily="34" charset="-122"/>
                <a:cs typeface="DM Sans" pitchFamily="34" charset="-120"/>
              </a:rPr>
              <a:t>Completion</a:t>
            </a:r>
            <a:endParaRPr lang="en-US" sz="1700" dirty="0"/>
          </a:p>
        </p:txBody>
      </p:sp>
      <p:sp>
        <p:nvSpPr>
          <p:cNvPr id="19" name="Text 13"/>
          <p:cNvSpPr/>
          <p:nvPr/>
        </p:nvSpPr>
        <p:spPr>
          <a:xfrm>
            <a:off x="4475480" y="4486275"/>
            <a:ext cx="2972003"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Statistics on finished work.</a:t>
            </a:r>
            <a:endParaRPr lang="en-US" sz="1400" dirty="0"/>
          </a:p>
        </p:txBody>
      </p:sp>
      <p:sp>
        <p:nvSpPr>
          <p:cNvPr id="20" name="Shape 14"/>
          <p:cNvSpPr/>
          <p:nvPr/>
        </p:nvSpPr>
        <p:spPr>
          <a:xfrm>
            <a:off x="7826375" y="1948817"/>
            <a:ext cx="3549650" cy="3073400"/>
          </a:xfrm>
          <a:prstGeom prst="roundRect">
            <a:avLst>
              <a:gd name="adj" fmla="val 4029"/>
            </a:avLst>
          </a:prstGeom>
          <a:solidFill>
            <a:srgbClr val="FFFFFF"/>
          </a:solidFill>
          <a:ln w="6350">
            <a:solidFill>
              <a:srgbClr val="C5E0F3"/>
            </a:solidFill>
            <a:prstDash val="solid"/>
          </a:ln>
        </p:spPr>
      </p:sp>
      <p:sp>
        <p:nvSpPr>
          <p:cNvPr id="21" name="Text 15"/>
          <p:cNvSpPr/>
          <p:nvPr/>
        </p:nvSpPr>
        <p:spPr>
          <a:xfrm>
            <a:off x="8031480" y="2153921"/>
            <a:ext cx="32336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B6FA8"/>
                </a:solidFill>
                <a:latin typeface="DM Sans" pitchFamily="34" charset="0"/>
                <a:ea typeface="DM Sans" pitchFamily="34" charset="-122"/>
                <a:cs typeface="DM Sans" pitchFamily="34" charset="-120"/>
              </a:rPr>
              <a:t>ILLUSTRATIVE CHART</a:t>
            </a:r>
            <a:endParaRPr lang="en-US" sz="1200" dirty="0"/>
          </a:p>
        </p:txBody>
      </p:sp>
      <p:sp>
        <p:nvSpPr>
          <p:cNvPr id="22" name="Shape 16"/>
          <p:cNvSpPr/>
          <p:nvPr/>
        </p:nvSpPr>
        <p:spPr>
          <a:xfrm>
            <a:off x="8031480" y="4418329"/>
            <a:ext cx="3139440" cy="0"/>
          </a:xfrm>
          <a:prstGeom prst="line">
            <a:avLst/>
          </a:prstGeom>
          <a:noFill/>
          <a:ln w="12700">
            <a:solidFill>
              <a:srgbClr val="A9CDE6"/>
            </a:solidFill>
            <a:prstDash val="solid"/>
          </a:ln>
        </p:spPr>
      </p:sp>
      <p:sp>
        <p:nvSpPr>
          <p:cNvPr id="23" name="Shape 17"/>
          <p:cNvSpPr/>
          <p:nvPr/>
        </p:nvSpPr>
        <p:spPr>
          <a:xfrm>
            <a:off x="8031480" y="3652521"/>
            <a:ext cx="526256" cy="762000"/>
          </a:xfrm>
          <a:custGeom>
            <a:avLst/>
            <a:gdLst/>
            <a:ahLst/>
            <a:cxnLst/>
            <a:rect l="l" t="t" r="r" b="b"/>
            <a:pathLst>
              <a:path w="526256" h="762000">
                <a:moveTo>
                  <a:pt x="50800" y="0"/>
                </a:moveTo>
                <a:lnTo>
                  <a:pt x="475456" y="0"/>
                </a:lnTo>
                <a:arcTo wR="50800" hR="50800" stAng="16200000" swAng="5400000"/>
                <a:lnTo>
                  <a:pt x="526256" y="762000"/>
                </a:lnTo>
                <a:lnTo>
                  <a:pt x="0" y="762000"/>
                </a:lnTo>
                <a:lnTo>
                  <a:pt x="0" y="50800"/>
                </a:lnTo>
                <a:arcTo wR="50800" hR="50800" stAng="10800000" swAng="5400000"/>
                <a:close/>
              </a:path>
            </a:pathLst>
          </a:custGeom>
          <a:solidFill>
            <a:srgbClr val="7FBCE6"/>
          </a:solidFill>
          <a:ln/>
        </p:spPr>
      </p:sp>
      <p:sp>
        <p:nvSpPr>
          <p:cNvPr id="24" name="Shape 18"/>
          <p:cNvSpPr/>
          <p:nvPr/>
        </p:nvSpPr>
        <p:spPr>
          <a:xfrm>
            <a:off x="8684737" y="3271521"/>
            <a:ext cx="526336" cy="1143000"/>
          </a:xfrm>
          <a:custGeom>
            <a:avLst/>
            <a:gdLst/>
            <a:ahLst/>
            <a:cxnLst/>
            <a:rect l="l" t="t" r="r" b="b"/>
            <a:pathLst>
              <a:path w="526336" h="1143000">
                <a:moveTo>
                  <a:pt x="50800" y="0"/>
                </a:moveTo>
                <a:lnTo>
                  <a:pt x="475536" y="0"/>
                </a:lnTo>
                <a:arcTo wR="50800" hR="50800" stAng="16200000" swAng="5400000"/>
                <a:lnTo>
                  <a:pt x="526336" y="1143000"/>
                </a:lnTo>
                <a:lnTo>
                  <a:pt x="0" y="1143000"/>
                </a:lnTo>
                <a:lnTo>
                  <a:pt x="0" y="50800"/>
                </a:lnTo>
                <a:arcTo wR="50800" hR="50800" stAng="10800000" swAng="5400000"/>
                <a:close/>
              </a:path>
            </a:pathLst>
          </a:custGeom>
          <a:solidFill>
            <a:srgbClr val="7FBCE6"/>
          </a:solidFill>
          <a:ln/>
        </p:spPr>
      </p:sp>
      <p:sp>
        <p:nvSpPr>
          <p:cNvPr id="25" name="Shape 19"/>
          <p:cNvSpPr/>
          <p:nvPr/>
        </p:nvSpPr>
        <p:spPr>
          <a:xfrm>
            <a:off x="9338072" y="3462021"/>
            <a:ext cx="526256" cy="952500"/>
          </a:xfrm>
          <a:custGeom>
            <a:avLst/>
            <a:gdLst/>
            <a:ahLst/>
            <a:cxnLst/>
            <a:rect l="l" t="t" r="r" b="b"/>
            <a:pathLst>
              <a:path w="526256" h="952500">
                <a:moveTo>
                  <a:pt x="50800" y="0"/>
                </a:moveTo>
                <a:lnTo>
                  <a:pt x="475456" y="0"/>
                </a:lnTo>
                <a:arcTo wR="50800" hR="50800" stAng="16200000" swAng="5400000"/>
                <a:lnTo>
                  <a:pt x="526256" y="952500"/>
                </a:lnTo>
                <a:lnTo>
                  <a:pt x="0" y="952500"/>
                </a:lnTo>
                <a:lnTo>
                  <a:pt x="0" y="50800"/>
                </a:lnTo>
                <a:arcTo wR="50800" hR="50800" stAng="10800000" swAng="5400000"/>
                <a:close/>
              </a:path>
            </a:pathLst>
          </a:custGeom>
          <a:solidFill>
            <a:srgbClr val="7FBCE6"/>
          </a:solidFill>
          <a:ln/>
        </p:spPr>
      </p:sp>
      <p:sp>
        <p:nvSpPr>
          <p:cNvPr id="26" name="Shape 20"/>
          <p:cNvSpPr/>
          <p:nvPr/>
        </p:nvSpPr>
        <p:spPr>
          <a:xfrm>
            <a:off x="9991328" y="2890521"/>
            <a:ext cx="526336" cy="1524000"/>
          </a:xfrm>
          <a:custGeom>
            <a:avLst/>
            <a:gdLst/>
            <a:ahLst/>
            <a:cxnLst/>
            <a:rect l="l" t="t" r="r" b="b"/>
            <a:pathLst>
              <a:path w="526336" h="1524000">
                <a:moveTo>
                  <a:pt x="50800" y="0"/>
                </a:moveTo>
                <a:lnTo>
                  <a:pt x="475536" y="0"/>
                </a:lnTo>
                <a:arcTo wR="50800" hR="50800" stAng="16200000" swAng="5400000"/>
                <a:lnTo>
                  <a:pt x="526336" y="1524000"/>
                </a:lnTo>
                <a:lnTo>
                  <a:pt x="0" y="1524000"/>
                </a:lnTo>
                <a:lnTo>
                  <a:pt x="0" y="50800"/>
                </a:lnTo>
                <a:arcTo wR="50800" hR="50800" stAng="10800000" swAng="5400000"/>
                <a:close/>
              </a:path>
            </a:pathLst>
          </a:custGeom>
          <a:solidFill>
            <a:srgbClr val="7FBCE6"/>
          </a:solidFill>
          <a:ln/>
        </p:spPr>
      </p:sp>
      <p:sp>
        <p:nvSpPr>
          <p:cNvPr id="27" name="Shape 21"/>
          <p:cNvSpPr/>
          <p:nvPr/>
        </p:nvSpPr>
        <p:spPr>
          <a:xfrm>
            <a:off x="10644664" y="2573021"/>
            <a:ext cx="526256" cy="1841500"/>
          </a:xfrm>
          <a:custGeom>
            <a:avLst/>
            <a:gdLst/>
            <a:ahLst/>
            <a:cxnLst/>
            <a:rect l="l" t="t" r="r" b="b"/>
            <a:pathLst>
              <a:path w="526256" h="1841500">
                <a:moveTo>
                  <a:pt x="50800" y="0"/>
                </a:moveTo>
                <a:lnTo>
                  <a:pt x="475456" y="0"/>
                </a:lnTo>
                <a:arcTo wR="50800" hR="50800" stAng="16200000" swAng="5400000"/>
                <a:lnTo>
                  <a:pt x="526256" y="1841500"/>
                </a:lnTo>
                <a:lnTo>
                  <a:pt x="0" y="1841500"/>
                </a:lnTo>
                <a:lnTo>
                  <a:pt x="0" y="50800"/>
                </a:lnTo>
                <a:arcTo wR="50800" hR="50800" stAng="10800000" swAng="5400000"/>
                <a:close/>
              </a:path>
            </a:pathLst>
          </a:custGeom>
          <a:solidFill>
            <a:srgbClr val="0B6FA8"/>
          </a:solidFill>
          <a:ln/>
        </p:spPr>
      </p:sp>
      <p:sp>
        <p:nvSpPr>
          <p:cNvPr id="28" name="Text 22"/>
          <p:cNvSpPr/>
          <p:nvPr/>
        </p:nvSpPr>
        <p:spPr>
          <a:xfrm>
            <a:off x="8031480" y="4577079"/>
            <a:ext cx="3233623"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568"/>
                </a:solidFill>
                <a:latin typeface="DM Sans" pitchFamily="34" charset="0"/>
                <a:ea typeface="DM Sans" pitchFamily="34" charset="-122"/>
                <a:cs typeface="DM Sans" pitchFamily="34" charset="-120"/>
              </a:rPr>
              <a:t>Completion trends over time</a:t>
            </a:r>
            <a:endParaRPr lang="en-US" sz="1400" dirty="0"/>
          </a:p>
        </p:txBody>
      </p:sp>
      <p:sp>
        <p:nvSpPr>
          <p:cNvPr id="29" name="Text 2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30" name="Text 2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ADMIN PANEL</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An administrator view of the platform</a:t>
            </a:r>
            <a:endParaRPr lang="en-US" sz="3600" dirty="0"/>
          </a:p>
        </p:txBody>
      </p:sp>
      <p:sp>
        <p:nvSpPr>
          <p:cNvPr id="4" name="Shape 2"/>
          <p:cNvSpPr/>
          <p:nvPr/>
        </p:nvSpPr>
        <p:spPr>
          <a:xfrm>
            <a:off x="815975" y="1948817"/>
            <a:ext cx="3380264" cy="2277110"/>
          </a:xfrm>
          <a:prstGeom prst="roundRect">
            <a:avLst>
              <a:gd name="adj" fmla="val 5438"/>
            </a:avLst>
          </a:prstGeom>
          <a:solidFill>
            <a:srgbClr val="F0F8FE"/>
          </a:solidFill>
          <a:ln w="6350">
            <a:solidFill>
              <a:srgbClr val="CFE6F6"/>
            </a:solidFill>
            <a:prstDash val="solid"/>
          </a:ln>
        </p:spPr>
      </p:sp>
      <p:pic>
        <p:nvPicPr>
          <p:cNvPr id="5" name="Image 0" descr="Users"/>
          <p:cNvPicPr>
            <a:picLocks noChangeAspect="1"/>
          </p:cNvPicPr>
          <p:nvPr/>
        </p:nvPicPr>
        <p:blipFill>
          <a:blip r:embed="rId3"/>
          <a:srcRect/>
          <a:stretch/>
        </p:blipFill>
        <p:spPr>
          <a:xfrm>
            <a:off x="1071880" y="2204721"/>
            <a:ext cx="457200" cy="457200"/>
          </a:xfrm>
          <a:prstGeom prst="rect">
            <a:avLst/>
          </a:prstGeom>
        </p:spPr>
      </p:pic>
      <p:sp>
        <p:nvSpPr>
          <p:cNvPr id="6" name="Text 3"/>
          <p:cNvSpPr/>
          <p:nvPr/>
        </p:nvSpPr>
        <p:spPr>
          <a:xfrm>
            <a:off x="1071880" y="2763521"/>
            <a:ext cx="295450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User metrics</a:t>
            </a:r>
            <a:endParaRPr lang="en-US" sz="2000" dirty="0"/>
          </a:p>
        </p:txBody>
      </p:sp>
      <p:sp>
        <p:nvSpPr>
          <p:cNvPr id="7" name="Text 4"/>
          <p:cNvSpPr/>
          <p:nvPr/>
        </p:nvSpPr>
        <p:spPr>
          <a:xfrm>
            <a:off x="1071880" y="3169921"/>
            <a:ext cx="295450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Understand how many people use the app and how they engage.</a:t>
            </a:r>
            <a:endParaRPr lang="en-US" sz="1500" dirty="0"/>
          </a:p>
        </p:txBody>
      </p:sp>
      <p:sp>
        <p:nvSpPr>
          <p:cNvPr id="8" name="Shape 5"/>
          <p:cNvSpPr/>
          <p:nvPr/>
        </p:nvSpPr>
        <p:spPr>
          <a:xfrm>
            <a:off x="4405789" y="1948817"/>
            <a:ext cx="3380343" cy="2277110"/>
          </a:xfrm>
          <a:prstGeom prst="roundRect">
            <a:avLst>
              <a:gd name="adj" fmla="val 5438"/>
            </a:avLst>
          </a:prstGeom>
          <a:solidFill>
            <a:srgbClr val="F0F8FE"/>
          </a:solidFill>
          <a:ln w="6350">
            <a:solidFill>
              <a:srgbClr val="CFE6F6"/>
            </a:solidFill>
            <a:prstDash val="solid"/>
          </a:ln>
        </p:spPr>
      </p:sp>
      <p:pic>
        <p:nvPicPr>
          <p:cNvPr id="9" name="Image 1" descr="Book"/>
          <p:cNvPicPr>
            <a:picLocks noChangeAspect="1"/>
          </p:cNvPicPr>
          <p:nvPr/>
        </p:nvPicPr>
        <p:blipFill>
          <a:blip r:embed="rId4"/>
          <a:srcRect/>
          <a:stretch/>
        </p:blipFill>
        <p:spPr>
          <a:xfrm>
            <a:off x="4661694" y="2204721"/>
            <a:ext cx="457200" cy="457200"/>
          </a:xfrm>
          <a:prstGeom prst="rect">
            <a:avLst/>
          </a:prstGeom>
        </p:spPr>
      </p:pic>
      <p:sp>
        <p:nvSpPr>
          <p:cNvPr id="10" name="Text 6"/>
          <p:cNvSpPr/>
          <p:nvPr/>
        </p:nvSpPr>
        <p:spPr>
          <a:xfrm>
            <a:off x="4661694" y="2763521"/>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Event reports</a:t>
            </a:r>
            <a:endParaRPr lang="en-US" sz="2000" dirty="0"/>
          </a:p>
        </p:txBody>
      </p:sp>
      <p:sp>
        <p:nvSpPr>
          <p:cNvPr id="11" name="Text 7"/>
          <p:cNvSpPr/>
          <p:nvPr/>
        </p:nvSpPr>
        <p:spPr>
          <a:xfrm>
            <a:off x="4661694" y="3169921"/>
            <a:ext cx="295458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Review event activity across the platform.</a:t>
            </a:r>
            <a:endParaRPr lang="en-US" sz="1500" dirty="0"/>
          </a:p>
        </p:txBody>
      </p:sp>
      <p:sp>
        <p:nvSpPr>
          <p:cNvPr id="12" name="Shape 8"/>
          <p:cNvSpPr/>
          <p:nvPr/>
        </p:nvSpPr>
        <p:spPr>
          <a:xfrm>
            <a:off x="7995682" y="1948817"/>
            <a:ext cx="3380343" cy="2277110"/>
          </a:xfrm>
          <a:prstGeom prst="roundRect">
            <a:avLst>
              <a:gd name="adj" fmla="val 5438"/>
            </a:avLst>
          </a:prstGeom>
          <a:solidFill>
            <a:srgbClr val="F0F8FE"/>
          </a:solidFill>
          <a:ln w="6350">
            <a:solidFill>
              <a:srgbClr val="CFE6F6"/>
            </a:solidFill>
            <a:prstDash val="solid"/>
          </a:ln>
        </p:spPr>
      </p:sp>
      <p:pic>
        <p:nvPicPr>
          <p:cNvPr id="13" name="Image 2" descr="Chart"/>
          <p:cNvPicPr>
            <a:picLocks noChangeAspect="1"/>
          </p:cNvPicPr>
          <p:nvPr/>
        </p:nvPicPr>
        <p:blipFill>
          <a:blip r:embed="rId5"/>
          <a:srcRect/>
          <a:stretch/>
        </p:blipFill>
        <p:spPr>
          <a:xfrm>
            <a:off x="8251587" y="2204721"/>
            <a:ext cx="457200" cy="457200"/>
          </a:xfrm>
          <a:prstGeom prst="rect">
            <a:avLst/>
          </a:prstGeom>
        </p:spPr>
      </p:pic>
      <p:sp>
        <p:nvSpPr>
          <p:cNvPr id="14" name="Text 9"/>
          <p:cNvSpPr/>
          <p:nvPr/>
        </p:nvSpPr>
        <p:spPr>
          <a:xfrm>
            <a:off x="8251587" y="2763521"/>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A43"/>
                </a:solidFill>
                <a:latin typeface="DM Sans" pitchFamily="34" charset="0"/>
                <a:ea typeface="DM Sans" pitchFamily="34" charset="-122"/>
                <a:cs typeface="DM Sans" pitchFamily="34" charset="-120"/>
              </a:rPr>
              <a:t>Dashboard statistics</a:t>
            </a:r>
            <a:endParaRPr lang="en-US" sz="2000" dirty="0"/>
          </a:p>
        </p:txBody>
      </p:sp>
      <p:sp>
        <p:nvSpPr>
          <p:cNvPr id="15" name="Text 10"/>
          <p:cNvSpPr/>
          <p:nvPr/>
        </p:nvSpPr>
        <p:spPr>
          <a:xfrm>
            <a:off x="8251587" y="3169921"/>
            <a:ext cx="295458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5568"/>
                </a:solidFill>
                <a:latin typeface="DM Sans" pitchFamily="34" charset="0"/>
                <a:ea typeface="DM Sans" pitchFamily="34" charset="-122"/>
                <a:cs typeface="DM Sans" pitchFamily="34" charset="-120"/>
              </a:rPr>
              <a:t>Track overall usage from a single admin dashboard.</a:t>
            </a:r>
            <a:endParaRPr lang="en-US" sz="1500" dirty="0"/>
          </a:p>
        </p:txBody>
      </p:sp>
      <p:sp>
        <p:nvSpPr>
          <p:cNvPr id="16"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17"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TECH STACK</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Built on a modern JavaScript stack</a:t>
            </a:r>
            <a:endParaRPr lang="en-US" sz="3600" dirty="0"/>
          </a:p>
        </p:txBody>
      </p:sp>
      <p:sp>
        <p:nvSpPr>
          <p:cNvPr id="4" name="Shape 2"/>
          <p:cNvSpPr/>
          <p:nvPr/>
        </p:nvSpPr>
        <p:spPr>
          <a:xfrm>
            <a:off x="815975" y="1948817"/>
            <a:ext cx="2482850" cy="2348230"/>
          </a:xfrm>
          <a:prstGeom prst="roundRect">
            <a:avLst>
              <a:gd name="adj" fmla="val 5273"/>
            </a:avLst>
          </a:prstGeom>
          <a:solidFill>
            <a:srgbClr val="FFFFFF"/>
          </a:solidFill>
          <a:ln w="6350">
            <a:solidFill>
              <a:srgbClr val="C5E0F3"/>
            </a:solidFill>
            <a:prstDash val="solid"/>
          </a:ln>
        </p:spPr>
      </p:sp>
      <p:sp>
        <p:nvSpPr>
          <p:cNvPr id="5" name="Text 3"/>
          <p:cNvSpPr/>
          <p:nvPr/>
        </p:nvSpPr>
        <p:spPr>
          <a:xfrm>
            <a:off x="1046480" y="2179321"/>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Frontend</a:t>
            </a:r>
            <a:endParaRPr lang="en-US" sz="1800" dirty="0"/>
          </a:p>
        </p:txBody>
      </p:sp>
      <p:sp>
        <p:nvSpPr>
          <p:cNvPr id="6" name="Text 4"/>
          <p:cNvSpPr/>
          <p:nvPr/>
        </p:nvSpPr>
        <p:spPr>
          <a:xfrm>
            <a:off x="1110488" y="2542542"/>
            <a:ext cx="2010867" cy="15494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React</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Vite</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React Router</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Axios</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CSS</a:t>
            </a:r>
            <a:endParaRPr lang="en-US" sz="1600" dirty="0"/>
          </a:p>
        </p:txBody>
      </p:sp>
      <p:sp>
        <p:nvSpPr>
          <p:cNvPr id="7" name="Shape 5"/>
          <p:cNvSpPr/>
          <p:nvPr/>
        </p:nvSpPr>
        <p:spPr>
          <a:xfrm>
            <a:off x="3508375" y="1948817"/>
            <a:ext cx="2482850" cy="2348230"/>
          </a:xfrm>
          <a:prstGeom prst="roundRect">
            <a:avLst>
              <a:gd name="adj" fmla="val 5273"/>
            </a:avLst>
          </a:prstGeom>
          <a:solidFill>
            <a:srgbClr val="FFFFFF"/>
          </a:solidFill>
          <a:ln w="6350">
            <a:solidFill>
              <a:srgbClr val="C5E0F3"/>
            </a:solidFill>
            <a:prstDash val="solid"/>
          </a:ln>
        </p:spPr>
      </p:sp>
      <p:sp>
        <p:nvSpPr>
          <p:cNvPr id="8" name="Text 6"/>
          <p:cNvSpPr/>
          <p:nvPr/>
        </p:nvSpPr>
        <p:spPr>
          <a:xfrm>
            <a:off x="3738880" y="2179321"/>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Backend</a:t>
            </a:r>
            <a:endParaRPr lang="en-US" sz="1800" dirty="0"/>
          </a:p>
        </p:txBody>
      </p:sp>
      <p:sp>
        <p:nvSpPr>
          <p:cNvPr id="9" name="Text 7"/>
          <p:cNvSpPr/>
          <p:nvPr/>
        </p:nvSpPr>
        <p:spPr>
          <a:xfrm>
            <a:off x="3802888" y="2542542"/>
            <a:ext cx="2010867" cy="12446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Node.js</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Express.js</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JWT auth</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REST API</a:t>
            </a:r>
            <a:endParaRPr lang="en-US" sz="1600" dirty="0"/>
          </a:p>
        </p:txBody>
      </p:sp>
      <p:sp>
        <p:nvSpPr>
          <p:cNvPr id="10" name="Shape 8"/>
          <p:cNvSpPr/>
          <p:nvPr/>
        </p:nvSpPr>
        <p:spPr>
          <a:xfrm>
            <a:off x="6200775" y="1948817"/>
            <a:ext cx="2482850" cy="2348230"/>
          </a:xfrm>
          <a:prstGeom prst="roundRect">
            <a:avLst>
              <a:gd name="adj" fmla="val 5273"/>
            </a:avLst>
          </a:prstGeom>
          <a:solidFill>
            <a:srgbClr val="FFFFFF"/>
          </a:solidFill>
          <a:ln w="6350">
            <a:solidFill>
              <a:srgbClr val="C5E0F3"/>
            </a:solidFill>
            <a:prstDash val="solid"/>
          </a:ln>
        </p:spPr>
      </p:sp>
      <p:sp>
        <p:nvSpPr>
          <p:cNvPr id="11" name="Text 9"/>
          <p:cNvSpPr/>
          <p:nvPr/>
        </p:nvSpPr>
        <p:spPr>
          <a:xfrm>
            <a:off x="6431280" y="2179321"/>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Data and AI</a:t>
            </a:r>
            <a:endParaRPr lang="en-US" sz="1800" dirty="0"/>
          </a:p>
        </p:txBody>
      </p:sp>
      <p:sp>
        <p:nvSpPr>
          <p:cNvPr id="12" name="Text 10"/>
          <p:cNvSpPr/>
          <p:nvPr/>
        </p:nvSpPr>
        <p:spPr>
          <a:xfrm>
            <a:off x="6495288" y="2542542"/>
            <a:ext cx="2010867" cy="6350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MySQL 8+</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Google Gemini API</a:t>
            </a:r>
            <a:endParaRPr lang="en-US" sz="1600" dirty="0"/>
          </a:p>
        </p:txBody>
      </p:sp>
      <p:sp>
        <p:nvSpPr>
          <p:cNvPr id="13" name="Shape 11"/>
          <p:cNvSpPr/>
          <p:nvPr/>
        </p:nvSpPr>
        <p:spPr>
          <a:xfrm>
            <a:off x="8893175" y="1948817"/>
            <a:ext cx="2482850" cy="2348230"/>
          </a:xfrm>
          <a:prstGeom prst="roundRect">
            <a:avLst>
              <a:gd name="adj" fmla="val 5273"/>
            </a:avLst>
          </a:prstGeom>
          <a:solidFill>
            <a:srgbClr val="FFFFFF"/>
          </a:solidFill>
          <a:ln w="6350">
            <a:solidFill>
              <a:srgbClr val="C5E0F3"/>
            </a:solidFill>
            <a:prstDash val="solid"/>
          </a:ln>
        </p:spPr>
      </p:sp>
      <p:sp>
        <p:nvSpPr>
          <p:cNvPr id="14" name="Text 12"/>
          <p:cNvSpPr/>
          <p:nvPr/>
        </p:nvSpPr>
        <p:spPr>
          <a:xfrm>
            <a:off x="9123680" y="2179321"/>
            <a:ext cx="20824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Tools</a:t>
            </a:r>
            <a:endParaRPr lang="en-US" sz="1800" dirty="0"/>
          </a:p>
        </p:txBody>
      </p:sp>
      <p:sp>
        <p:nvSpPr>
          <p:cNvPr id="15" name="Text 13"/>
          <p:cNvSpPr/>
          <p:nvPr/>
        </p:nvSpPr>
        <p:spPr>
          <a:xfrm>
            <a:off x="9187688" y="2542542"/>
            <a:ext cx="2010867" cy="9398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Git</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GitHub</a:t>
            </a:r>
            <a:endParaRPr lang="en-US" sz="1600" dirty="0"/>
          </a:p>
          <a:p>
            <a:pPr marL="189992" indent="-189992" algn="l">
              <a:lnSpc>
                <a:spcPts val="2400"/>
              </a:lnSpc>
              <a:buSzPct val="100000"/>
              <a:buChar char="•"/>
            </a:pPr>
            <a:r>
              <a:rPr lang="en-US" sz="1600" dirty="0">
                <a:solidFill>
                  <a:srgbClr val="0B2A43"/>
                </a:solidFill>
                <a:latin typeface="DM Sans" pitchFamily="34" charset="0"/>
                <a:ea typeface="DM Sans" pitchFamily="34" charset="-122"/>
                <a:cs typeface="DM Sans" pitchFamily="34" charset="-120"/>
              </a:rPr>
              <a:t>npm</a:t>
            </a:r>
            <a:endParaRPr lang="en-US" sz="16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SYSTEM ARCHITECTURE</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The backend connects the app to data and AI</a:t>
            </a:r>
            <a:endParaRPr lang="en-US" sz="3600" dirty="0"/>
          </a:p>
        </p:txBody>
      </p:sp>
      <p:sp>
        <p:nvSpPr>
          <p:cNvPr id="4" name="Shape 2"/>
          <p:cNvSpPr/>
          <p:nvPr/>
        </p:nvSpPr>
        <p:spPr>
          <a:xfrm>
            <a:off x="819150" y="2673350"/>
            <a:ext cx="2527300" cy="1130300"/>
          </a:xfrm>
          <a:prstGeom prst="roundRect">
            <a:avLst>
              <a:gd name="adj" fmla="val 10674"/>
            </a:avLst>
          </a:prstGeom>
          <a:solidFill>
            <a:srgbClr val="F0F8FE"/>
          </a:solidFill>
          <a:ln w="12700">
            <a:solidFill>
              <a:srgbClr val="0B6FA8"/>
            </a:solidFill>
            <a:prstDash val="solid"/>
          </a:ln>
        </p:spPr>
      </p:sp>
      <p:sp>
        <p:nvSpPr>
          <p:cNvPr id="5" name="Text 3"/>
          <p:cNvSpPr/>
          <p:nvPr/>
        </p:nvSpPr>
        <p:spPr>
          <a:xfrm>
            <a:off x="1276795" y="2951479"/>
            <a:ext cx="1612011"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B2A43"/>
                </a:solidFill>
                <a:latin typeface="DM Sans" pitchFamily="34" charset="0"/>
                <a:ea typeface="DM Sans" pitchFamily="34" charset="-122"/>
                <a:cs typeface="DM Sans" pitchFamily="34" charset="-120"/>
              </a:rPr>
              <a:t>React + Vite</a:t>
            </a:r>
            <a:endParaRPr lang="en-US" sz="1800" dirty="0"/>
          </a:p>
        </p:txBody>
      </p:sp>
      <p:sp>
        <p:nvSpPr>
          <p:cNvPr id="6" name="Text 4"/>
          <p:cNvSpPr/>
          <p:nvPr/>
        </p:nvSpPr>
        <p:spPr>
          <a:xfrm>
            <a:off x="1634744" y="3276600"/>
            <a:ext cx="896112"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F5568"/>
                </a:solidFill>
                <a:latin typeface="DM Sans" pitchFamily="34" charset="0"/>
                <a:ea typeface="DM Sans" pitchFamily="34" charset="-122"/>
                <a:cs typeface="DM Sans" pitchFamily="34" charset="-120"/>
              </a:rPr>
              <a:t>Frontend</a:t>
            </a:r>
            <a:endParaRPr lang="en-US" sz="1400" dirty="0"/>
          </a:p>
        </p:txBody>
      </p:sp>
      <p:sp>
        <p:nvSpPr>
          <p:cNvPr id="7" name="Text 5"/>
          <p:cNvSpPr/>
          <p:nvPr/>
        </p:nvSpPr>
        <p:spPr>
          <a:xfrm>
            <a:off x="3327400" y="2794000"/>
            <a:ext cx="1524000"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5568"/>
                </a:solidFill>
                <a:latin typeface="DM Sans" pitchFamily="34" charset="0"/>
                <a:ea typeface="DM Sans" pitchFamily="34" charset="-122"/>
                <a:cs typeface="DM Sans" pitchFamily="34" charset="-120"/>
              </a:rPr>
              <a:t>REST API calls</a:t>
            </a:r>
            <a:endParaRPr lang="en-US" sz="1300" dirty="0"/>
          </a:p>
        </p:txBody>
      </p:sp>
      <p:pic>
        <p:nvPicPr>
          <p:cNvPr id="8" name="Image 0" descr="connector"/>
          <p:cNvPicPr>
            <a:picLocks noChangeAspect="1"/>
          </p:cNvPicPr>
          <p:nvPr/>
        </p:nvPicPr>
        <p:blipFill>
          <a:blip r:embed="rId3"/>
          <a:srcRect/>
          <a:stretch/>
        </p:blipFill>
        <p:spPr>
          <a:xfrm>
            <a:off x="3289300" y="3175000"/>
            <a:ext cx="1600200" cy="127000"/>
          </a:xfrm>
          <a:prstGeom prst="rect">
            <a:avLst/>
          </a:prstGeom>
        </p:spPr>
      </p:pic>
      <p:sp>
        <p:nvSpPr>
          <p:cNvPr id="9" name="Shape 6"/>
          <p:cNvSpPr/>
          <p:nvPr/>
        </p:nvSpPr>
        <p:spPr>
          <a:xfrm>
            <a:off x="4832350" y="2673350"/>
            <a:ext cx="2527300" cy="1130300"/>
          </a:xfrm>
          <a:prstGeom prst="roundRect">
            <a:avLst>
              <a:gd name="adj" fmla="val 10674"/>
            </a:avLst>
          </a:prstGeom>
          <a:solidFill>
            <a:srgbClr val="F0F8FE"/>
          </a:solidFill>
          <a:ln w="12700">
            <a:solidFill>
              <a:srgbClr val="0B6FA8"/>
            </a:solidFill>
            <a:prstDash val="solid"/>
          </a:ln>
        </p:spPr>
      </p:sp>
      <p:sp>
        <p:nvSpPr>
          <p:cNvPr id="10" name="Text 7"/>
          <p:cNvSpPr/>
          <p:nvPr/>
        </p:nvSpPr>
        <p:spPr>
          <a:xfrm>
            <a:off x="5419630" y="2951479"/>
            <a:ext cx="1352741"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B2A43"/>
                </a:solidFill>
                <a:latin typeface="DM Sans" pitchFamily="34" charset="0"/>
                <a:ea typeface="DM Sans" pitchFamily="34" charset="-122"/>
                <a:cs typeface="DM Sans" pitchFamily="34" charset="-120"/>
              </a:rPr>
              <a:t>Express.js</a:t>
            </a:r>
            <a:endParaRPr lang="en-US" sz="1800" dirty="0"/>
          </a:p>
        </p:txBody>
      </p:sp>
      <p:sp>
        <p:nvSpPr>
          <p:cNvPr id="11" name="Text 8"/>
          <p:cNvSpPr/>
          <p:nvPr/>
        </p:nvSpPr>
        <p:spPr>
          <a:xfrm>
            <a:off x="5338294" y="3276600"/>
            <a:ext cx="1515332"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F5568"/>
                </a:solidFill>
                <a:latin typeface="DM Sans" pitchFamily="34" charset="0"/>
                <a:ea typeface="DM Sans" pitchFamily="34" charset="-122"/>
                <a:cs typeface="DM Sans" pitchFamily="34" charset="-120"/>
              </a:rPr>
              <a:t>Backend server</a:t>
            </a:r>
            <a:endParaRPr lang="en-US" sz="1400" dirty="0"/>
          </a:p>
        </p:txBody>
      </p:sp>
      <p:sp>
        <p:nvSpPr>
          <p:cNvPr id="12" name="Shape 9"/>
          <p:cNvSpPr/>
          <p:nvPr/>
        </p:nvSpPr>
        <p:spPr>
          <a:xfrm>
            <a:off x="8845550" y="2165350"/>
            <a:ext cx="2527300" cy="1003300"/>
          </a:xfrm>
          <a:prstGeom prst="roundRect">
            <a:avLst>
              <a:gd name="adj" fmla="val 12025"/>
            </a:avLst>
          </a:prstGeom>
          <a:solidFill>
            <a:srgbClr val="F0F8FE"/>
          </a:solidFill>
          <a:ln w="12700">
            <a:solidFill>
              <a:srgbClr val="C97A00"/>
            </a:solidFill>
            <a:prstDash val="solid"/>
          </a:ln>
        </p:spPr>
      </p:sp>
      <p:sp>
        <p:nvSpPr>
          <p:cNvPr id="13" name="Text 10"/>
          <p:cNvSpPr/>
          <p:nvPr/>
        </p:nvSpPr>
        <p:spPr>
          <a:xfrm>
            <a:off x="9637903" y="2379979"/>
            <a:ext cx="942594"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B2A43"/>
                </a:solidFill>
                <a:latin typeface="DM Sans" pitchFamily="34" charset="0"/>
                <a:ea typeface="DM Sans" pitchFamily="34" charset="-122"/>
                <a:cs typeface="DM Sans" pitchFamily="34" charset="-120"/>
              </a:rPr>
              <a:t>MySQL</a:t>
            </a:r>
            <a:endParaRPr lang="en-US" sz="1800" dirty="0"/>
          </a:p>
        </p:txBody>
      </p:sp>
      <p:sp>
        <p:nvSpPr>
          <p:cNvPr id="14" name="Text 11"/>
          <p:cNvSpPr/>
          <p:nvPr/>
        </p:nvSpPr>
        <p:spPr>
          <a:xfrm>
            <a:off x="9640387" y="2705100"/>
            <a:ext cx="937546"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F5568"/>
                </a:solidFill>
                <a:latin typeface="DM Sans" pitchFamily="34" charset="0"/>
                <a:ea typeface="DM Sans" pitchFamily="34" charset="-122"/>
                <a:cs typeface="DM Sans" pitchFamily="34" charset="-120"/>
              </a:rPr>
              <a:t>Database</a:t>
            </a:r>
            <a:endParaRPr lang="en-US" sz="1400" dirty="0"/>
          </a:p>
        </p:txBody>
      </p:sp>
      <p:sp>
        <p:nvSpPr>
          <p:cNvPr id="15" name="Shape 12"/>
          <p:cNvSpPr/>
          <p:nvPr/>
        </p:nvSpPr>
        <p:spPr>
          <a:xfrm>
            <a:off x="8845550" y="3435350"/>
            <a:ext cx="2527300" cy="1003300"/>
          </a:xfrm>
          <a:prstGeom prst="roundRect">
            <a:avLst>
              <a:gd name="adj" fmla="val 12025"/>
            </a:avLst>
          </a:prstGeom>
          <a:solidFill>
            <a:srgbClr val="F0F8FE"/>
          </a:solidFill>
          <a:ln w="12700">
            <a:solidFill>
              <a:srgbClr val="C97A00"/>
            </a:solidFill>
            <a:prstDash val="solid"/>
          </a:ln>
        </p:spPr>
      </p:sp>
      <p:sp>
        <p:nvSpPr>
          <p:cNvPr id="16" name="Text 13"/>
          <p:cNvSpPr/>
          <p:nvPr/>
        </p:nvSpPr>
        <p:spPr>
          <a:xfrm>
            <a:off x="9464080" y="3649979"/>
            <a:ext cx="1290161"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B2A43"/>
                </a:solidFill>
                <a:latin typeface="DM Sans" pitchFamily="34" charset="0"/>
                <a:ea typeface="DM Sans" pitchFamily="34" charset="-122"/>
                <a:cs typeface="DM Sans" pitchFamily="34" charset="-120"/>
              </a:rPr>
              <a:t>Gemini AI</a:t>
            </a:r>
            <a:endParaRPr lang="en-US" sz="1800" dirty="0"/>
          </a:p>
        </p:txBody>
      </p:sp>
      <p:sp>
        <p:nvSpPr>
          <p:cNvPr id="17" name="Text 14"/>
          <p:cNvSpPr/>
          <p:nvPr/>
        </p:nvSpPr>
        <p:spPr>
          <a:xfrm>
            <a:off x="9196713" y="3975100"/>
            <a:ext cx="1824895"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3F5568"/>
                </a:solidFill>
                <a:latin typeface="DM Sans" pitchFamily="34" charset="0"/>
                <a:ea typeface="DM Sans" pitchFamily="34" charset="-122"/>
                <a:cs typeface="DM Sans" pitchFamily="34" charset="-120"/>
              </a:rPr>
              <a:t>Google Gemini API</a:t>
            </a:r>
            <a:endParaRPr lang="en-US" sz="1400" dirty="0"/>
          </a:p>
        </p:txBody>
      </p:sp>
      <p:pic>
        <p:nvPicPr>
          <p:cNvPr id="18" name="Image 1" descr="connector"/>
          <p:cNvPicPr>
            <a:picLocks noChangeAspect="1"/>
          </p:cNvPicPr>
          <p:nvPr/>
        </p:nvPicPr>
        <p:blipFill>
          <a:blip r:embed="rId4"/>
          <a:srcRect/>
          <a:stretch/>
        </p:blipFill>
        <p:spPr>
          <a:xfrm>
            <a:off x="7302500" y="2603500"/>
            <a:ext cx="1600200" cy="508000"/>
          </a:xfrm>
          <a:prstGeom prst="rect">
            <a:avLst/>
          </a:prstGeom>
        </p:spPr>
      </p:pic>
      <p:pic>
        <p:nvPicPr>
          <p:cNvPr id="19" name="Image 2" descr="connector"/>
          <p:cNvPicPr>
            <a:picLocks noChangeAspect="1"/>
          </p:cNvPicPr>
          <p:nvPr/>
        </p:nvPicPr>
        <p:blipFill>
          <a:blip r:embed="rId5"/>
          <a:srcRect/>
          <a:stretch/>
        </p:blipFill>
        <p:spPr>
          <a:xfrm>
            <a:off x="7302500" y="3365500"/>
            <a:ext cx="1600200" cy="635000"/>
          </a:xfrm>
          <a:prstGeom prst="rect">
            <a:avLst/>
          </a:prstGeom>
        </p:spPr>
      </p:pic>
      <p:sp>
        <p:nvSpPr>
          <p:cNvPr id="20" name="Text 15"/>
          <p:cNvSpPr/>
          <p:nvPr/>
        </p:nvSpPr>
        <p:spPr>
          <a:xfrm>
            <a:off x="812800" y="49530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B2A43"/>
                </a:solidFill>
                <a:latin typeface="DM Sans" pitchFamily="34" charset="0"/>
                <a:ea typeface="DM Sans" pitchFamily="34" charset="-122"/>
                <a:cs typeface="DM Sans" pitchFamily="34" charset="-120"/>
              </a:rPr>
              <a:t>The Express backend is the single gateway: the browser never talks to MySQL or Gemini directly.</a:t>
            </a:r>
            <a:endParaRPr lang="en-US" sz="1700" dirty="0"/>
          </a:p>
        </p:txBody>
      </p:sp>
      <p:sp>
        <p:nvSpPr>
          <p:cNvPr id="21"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4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SETUP AND DEPLOYMENT</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Running locally, then deploying</a:t>
            </a:r>
            <a:endParaRPr lang="en-US" sz="3600" dirty="0"/>
          </a:p>
        </p:txBody>
      </p:sp>
      <p:sp>
        <p:nvSpPr>
          <p:cNvPr id="4" name="Shape 2"/>
          <p:cNvSpPr/>
          <p:nvPr/>
        </p:nvSpPr>
        <p:spPr>
          <a:xfrm>
            <a:off x="815975" y="1948817"/>
            <a:ext cx="5408930" cy="2767330"/>
          </a:xfrm>
          <a:prstGeom prst="roundRect">
            <a:avLst>
              <a:gd name="adj" fmla="val 4475"/>
            </a:avLst>
          </a:prstGeom>
          <a:solidFill>
            <a:srgbClr val="FFFFFF"/>
          </a:solidFill>
          <a:ln w="6350">
            <a:solidFill>
              <a:srgbClr val="C5E0F3"/>
            </a:solidFill>
            <a:prstDash val="solid"/>
          </a:ln>
        </p:spPr>
      </p:sp>
      <p:sp>
        <p:nvSpPr>
          <p:cNvPr id="5" name="Text 3"/>
          <p:cNvSpPr/>
          <p:nvPr/>
        </p:nvSpPr>
        <p:spPr>
          <a:xfrm>
            <a:off x="1046480" y="2179321"/>
            <a:ext cx="509635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FA8"/>
                </a:solidFill>
                <a:latin typeface="DM Sans" pitchFamily="34" charset="0"/>
                <a:ea typeface="DM Sans" pitchFamily="34" charset="-122"/>
                <a:cs typeface="DM Sans" pitchFamily="34" charset="-120"/>
              </a:rPr>
              <a:t>Run locally</a:t>
            </a:r>
            <a:endParaRPr lang="en-US" sz="1800" dirty="0"/>
          </a:p>
        </p:txBody>
      </p:sp>
      <p:sp>
        <p:nvSpPr>
          <p:cNvPr id="6" name="Text 4"/>
          <p:cNvSpPr/>
          <p:nvPr/>
        </p:nvSpPr>
        <p:spPr>
          <a:xfrm>
            <a:off x="1046480" y="2580642"/>
            <a:ext cx="509635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5568"/>
                </a:solidFill>
                <a:latin typeface="DM Sans" pitchFamily="34" charset="0"/>
                <a:ea typeface="DM Sans" pitchFamily="34" charset="-122"/>
                <a:cs typeface="DM Sans" pitchFamily="34" charset="-120"/>
              </a:rPr>
              <a:t>Needs Node.js v18+, npm, MySQL 8+ and Git.</a:t>
            </a:r>
            <a:endParaRPr lang="en-US" sz="1400" dirty="0"/>
          </a:p>
        </p:txBody>
      </p:sp>
      <p:sp>
        <p:nvSpPr>
          <p:cNvPr id="7" name="Text 5"/>
          <p:cNvSpPr/>
          <p:nvPr/>
        </p:nvSpPr>
        <p:spPr>
          <a:xfrm>
            <a:off x="1046480" y="2956564"/>
            <a:ext cx="30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1</a:t>
            </a:r>
            <a:endParaRPr lang="en-US" sz="1600" dirty="0"/>
          </a:p>
        </p:txBody>
      </p:sp>
      <p:sp>
        <p:nvSpPr>
          <p:cNvPr id="8" name="Text 6"/>
          <p:cNvSpPr/>
          <p:nvPr/>
        </p:nvSpPr>
        <p:spPr>
          <a:xfrm>
            <a:off x="1427480" y="2976879"/>
            <a:ext cx="470392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Clone the repository</a:t>
            </a:r>
            <a:endParaRPr lang="en-US" sz="1500" dirty="0"/>
          </a:p>
        </p:txBody>
      </p:sp>
      <p:sp>
        <p:nvSpPr>
          <p:cNvPr id="9" name="Text 7"/>
          <p:cNvSpPr/>
          <p:nvPr/>
        </p:nvSpPr>
        <p:spPr>
          <a:xfrm>
            <a:off x="1046480" y="3370579"/>
            <a:ext cx="30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2</a:t>
            </a:r>
            <a:endParaRPr lang="en-US" sz="1600" dirty="0"/>
          </a:p>
        </p:txBody>
      </p:sp>
      <p:sp>
        <p:nvSpPr>
          <p:cNvPr id="10" name="Text 8"/>
          <p:cNvSpPr/>
          <p:nvPr/>
        </p:nvSpPr>
        <p:spPr>
          <a:xfrm>
            <a:off x="1427480" y="3390900"/>
            <a:ext cx="470392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Import schema.sql into MySQL</a:t>
            </a:r>
            <a:endParaRPr lang="en-US" sz="1500" dirty="0"/>
          </a:p>
        </p:txBody>
      </p:sp>
      <p:sp>
        <p:nvSpPr>
          <p:cNvPr id="11" name="Text 9"/>
          <p:cNvSpPr/>
          <p:nvPr/>
        </p:nvSpPr>
        <p:spPr>
          <a:xfrm>
            <a:off x="1046480" y="3784600"/>
            <a:ext cx="30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3</a:t>
            </a:r>
            <a:endParaRPr lang="en-US" sz="1600" dirty="0"/>
          </a:p>
        </p:txBody>
      </p:sp>
      <p:sp>
        <p:nvSpPr>
          <p:cNvPr id="12" name="Text 10"/>
          <p:cNvSpPr/>
          <p:nvPr/>
        </p:nvSpPr>
        <p:spPr>
          <a:xfrm>
            <a:off x="1427480" y="3804921"/>
            <a:ext cx="470392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Add the backend and frontend .env files</a:t>
            </a:r>
            <a:endParaRPr lang="en-US" sz="1500" dirty="0"/>
          </a:p>
        </p:txBody>
      </p:sp>
      <p:sp>
        <p:nvSpPr>
          <p:cNvPr id="13" name="Text 11"/>
          <p:cNvSpPr/>
          <p:nvPr/>
        </p:nvSpPr>
        <p:spPr>
          <a:xfrm>
            <a:off x="1046480" y="4198621"/>
            <a:ext cx="30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6FA8"/>
                </a:solidFill>
                <a:latin typeface="DM Sans" pitchFamily="34" charset="0"/>
                <a:ea typeface="DM Sans" pitchFamily="34" charset="-122"/>
                <a:cs typeface="DM Sans" pitchFamily="34" charset="-120"/>
              </a:rPr>
              <a:t>4</a:t>
            </a:r>
            <a:endParaRPr lang="en-US" sz="1600" dirty="0"/>
          </a:p>
        </p:txBody>
      </p:sp>
      <p:sp>
        <p:nvSpPr>
          <p:cNvPr id="14" name="Text 12"/>
          <p:cNvSpPr/>
          <p:nvPr/>
        </p:nvSpPr>
        <p:spPr>
          <a:xfrm>
            <a:off x="1427480" y="4218942"/>
            <a:ext cx="470392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Run npm install and npm run dev in each</a:t>
            </a:r>
            <a:endParaRPr lang="en-US" sz="1500" dirty="0"/>
          </a:p>
        </p:txBody>
      </p:sp>
      <p:sp>
        <p:nvSpPr>
          <p:cNvPr id="15" name="Shape 13"/>
          <p:cNvSpPr/>
          <p:nvPr/>
        </p:nvSpPr>
        <p:spPr>
          <a:xfrm>
            <a:off x="6434455" y="1948817"/>
            <a:ext cx="4941570" cy="1027430"/>
          </a:xfrm>
          <a:prstGeom prst="roundRect">
            <a:avLst>
              <a:gd name="adj" fmla="val 12052"/>
            </a:avLst>
          </a:prstGeom>
          <a:solidFill>
            <a:srgbClr val="FFFFFF"/>
          </a:solidFill>
          <a:ln w="6350">
            <a:solidFill>
              <a:srgbClr val="C5E0F3"/>
            </a:solidFill>
            <a:prstDash val="solid"/>
          </a:ln>
        </p:spPr>
      </p:sp>
      <p:sp>
        <p:nvSpPr>
          <p:cNvPr id="16" name="Text 14"/>
          <p:cNvSpPr/>
          <p:nvPr/>
        </p:nvSpPr>
        <p:spPr>
          <a:xfrm>
            <a:off x="6639560" y="2153921"/>
            <a:ext cx="466730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DM Sans" pitchFamily="34" charset="0"/>
                <a:ea typeface="DM Sans" pitchFamily="34" charset="-122"/>
                <a:cs typeface="DM Sans" pitchFamily="34" charset="-120"/>
              </a:rPr>
              <a:t>Backend hosting</a:t>
            </a:r>
            <a:endParaRPr lang="en-US" sz="1800" dirty="0"/>
          </a:p>
        </p:txBody>
      </p:sp>
      <p:sp>
        <p:nvSpPr>
          <p:cNvPr id="17" name="Text 15"/>
          <p:cNvSpPr/>
          <p:nvPr/>
        </p:nvSpPr>
        <p:spPr>
          <a:xfrm>
            <a:off x="6639560" y="2504442"/>
            <a:ext cx="466730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Railway, Render, DigitalOcean, AWS or Azure</a:t>
            </a:r>
            <a:endParaRPr lang="en-US" sz="1500" dirty="0"/>
          </a:p>
        </p:txBody>
      </p:sp>
      <p:sp>
        <p:nvSpPr>
          <p:cNvPr id="18" name="Shape 16"/>
          <p:cNvSpPr/>
          <p:nvPr/>
        </p:nvSpPr>
        <p:spPr>
          <a:xfrm>
            <a:off x="6434455" y="3134996"/>
            <a:ext cx="4941570" cy="1027430"/>
          </a:xfrm>
          <a:prstGeom prst="roundRect">
            <a:avLst>
              <a:gd name="adj" fmla="val 12052"/>
            </a:avLst>
          </a:prstGeom>
          <a:solidFill>
            <a:srgbClr val="FFFFFF"/>
          </a:solidFill>
          <a:ln w="6350">
            <a:solidFill>
              <a:srgbClr val="C5E0F3"/>
            </a:solidFill>
            <a:prstDash val="solid"/>
          </a:ln>
        </p:spPr>
      </p:sp>
      <p:sp>
        <p:nvSpPr>
          <p:cNvPr id="19" name="Text 17"/>
          <p:cNvSpPr/>
          <p:nvPr/>
        </p:nvSpPr>
        <p:spPr>
          <a:xfrm>
            <a:off x="6639560" y="3340100"/>
            <a:ext cx="466730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DM Sans" pitchFamily="34" charset="0"/>
                <a:ea typeface="DM Sans" pitchFamily="34" charset="-122"/>
                <a:cs typeface="DM Sans" pitchFamily="34" charset="-120"/>
              </a:rPr>
              <a:t>Frontend hosting</a:t>
            </a:r>
            <a:endParaRPr lang="en-US" sz="1800" dirty="0"/>
          </a:p>
        </p:txBody>
      </p:sp>
      <p:sp>
        <p:nvSpPr>
          <p:cNvPr id="20" name="Text 18"/>
          <p:cNvSpPr/>
          <p:nvPr/>
        </p:nvSpPr>
        <p:spPr>
          <a:xfrm>
            <a:off x="6639560" y="3690621"/>
            <a:ext cx="466730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2A43"/>
                </a:solidFill>
                <a:latin typeface="DM Sans" pitchFamily="34" charset="0"/>
                <a:ea typeface="DM Sans" pitchFamily="34" charset="-122"/>
                <a:cs typeface="DM Sans" pitchFamily="34" charset="-120"/>
              </a:rPr>
              <a:t>Vercel, Netlify or Firebase Hosting</a:t>
            </a:r>
            <a:endParaRPr lang="en-US" sz="1500" dirty="0"/>
          </a:p>
        </p:txBody>
      </p:sp>
      <p:sp>
        <p:nvSpPr>
          <p:cNvPr id="21" name="Text 19"/>
          <p:cNvSpPr/>
          <p:nvPr/>
        </p:nvSpPr>
        <p:spPr>
          <a:xfrm>
            <a:off x="6431280" y="4318000"/>
            <a:ext cx="509635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5568"/>
                </a:solidFill>
                <a:latin typeface="DM Sans" pitchFamily="34" charset="0"/>
                <a:ea typeface="DM Sans" pitchFamily="34" charset="-122"/>
                <a:cs typeface="DM Sans" pitchFamily="34" charset="-120"/>
              </a:rPr>
              <a:t>Then point VITE_API_BASE_URL at the deployed backend.</a:t>
            </a:r>
            <a:endParaRPr lang="en-US" sz="1400" dirty="0"/>
          </a:p>
        </p:txBody>
      </p:sp>
      <p:sp>
        <p:nvSpPr>
          <p:cNvPr id="22" name="Text 2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0667A"/>
                </a:solidFill>
                <a:latin typeface="DM Sans" pitchFamily="34" charset="0"/>
                <a:ea typeface="DM Sans" pitchFamily="34" charset="-122"/>
                <a:cs typeface="DM Sans" pitchFamily="34" charset="-120"/>
              </a:rPr>
              <a:t>TaskPilot AI</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0667A"/>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FA8"/>
                </a:solidFill>
                <a:latin typeface="DM Sans" pitchFamily="34" charset="0"/>
                <a:ea typeface="DM Sans" pitchFamily="34" charset="-122"/>
                <a:cs typeface="DM Sans" pitchFamily="34" charset="-120"/>
              </a:rPr>
              <a:t>FUTURE ENHANCEMENTS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2A43"/>
                </a:solidFill>
                <a:latin typeface="DM Sans" pitchFamily="34" charset="0"/>
                <a:ea typeface="DM Sans" pitchFamily="34" charset="-122"/>
                <a:cs typeface="DM Sans" pitchFamily="34" charset="-120"/>
              </a:rPr>
              <a:t>Where TaskPilot AI goes next</a:t>
            </a:r>
            <a:endParaRPr lang="en-US" sz="3600" dirty="0"/>
          </a:p>
        </p:txBody>
      </p:sp>
      <p:sp>
        <p:nvSpPr>
          <p:cNvPr id="4" name="Text 2"/>
          <p:cNvSpPr/>
          <p:nvPr/>
        </p:nvSpPr>
        <p:spPr>
          <a:xfrm>
            <a:off x="815975" y="19488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Drag-and-drop tasks</a:t>
            </a:r>
            <a:endParaRPr lang="en-US" sz="1700" dirty="0"/>
          </a:p>
        </p:txBody>
      </p:sp>
      <p:sp>
        <p:nvSpPr>
          <p:cNvPr id="5" name="Text 3"/>
          <p:cNvSpPr/>
          <p:nvPr/>
        </p:nvSpPr>
        <p:spPr>
          <a:xfrm>
            <a:off x="4397375" y="19488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Calendar integration</a:t>
            </a:r>
            <a:endParaRPr lang="en-US" sz="1700" dirty="0"/>
          </a:p>
        </p:txBody>
      </p:sp>
      <p:sp>
        <p:nvSpPr>
          <p:cNvPr id="6" name="Text 4"/>
          <p:cNvSpPr/>
          <p:nvPr/>
        </p:nvSpPr>
        <p:spPr>
          <a:xfrm>
            <a:off x="7978775" y="19488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Email notifications</a:t>
            </a:r>
            <a:endParaRPr lang="en-US" sz="1700" dirty="0"/>
          </a:p>
        </p:txBody>
      </p:sp>
      <p:sp>
        <p:nvSpPr>
          <p:cNvPr id="7" name="Text 5"/>
          <p:cNvSpPr/>
          <p:nvPr/>
        </p:nvSpPr>
        <p:spPr>
          <a:xfrm>
            <a:off x="815975" y="2845439"/>
            <a:ext cx="3397250" cy="1014730"/>
          </a:xfrm>
          <a:prstGeom prst="roundRect">
            <a:avLst>
              <a:gd name="adj" fmla="val 9700"/>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Team collaboration</a:t>
            </a:r>
            <a:endParaRPr lang="en-US" sz="1700" dirty="0"/>
          </a:p>
        </p:txBody>
      </p:sp>
      <p:sp>
        <p:nvSpPr>
          <p:cNvPr id="8" name="Text 6"/>
          <p:cNvSpPr/>
          <p:nvPr/>
        </p:nvSpPr>
        <p:spPr>
          <a:xfrm>
            <a:off x="4397375" y="2845439"/>
            <a:ext cx="3397250" cy="1014730"/>
          </a:xfrm>
          <a:prstGeom prst="roundRect">
            <a:avLst>
              <a:gd name="adj" fmla="val 9700"/>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Recurring tasks</a:t>
            </a:r>
            <a:endParaRPr lang="en-US" sz="1700" dirty="0"/>
          </a:p>
        </p:txBody>
      </p:sp>
      <p:sp>
        <p:nvSpPr>
          <p:cNvPr id="9" name="Text 7"/>
          <p:cNvSpPr/>
          <p:nvPr/>
        </p:nvSpPr>
        <p:spPr>
          <a:xfrm>
            <a:off x="7978775" y="2845439"/>
            <a:ext cx="3397250" cy="1014730"/>
          </a:xfrm>
          <a:prstGeom prst="roundRect">
            <a:avLst>
              <a:gd name="adj" fmla="val 9700"/>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AI-based personalised task suggestions</a:t>
            </a:r>
            <a:endParaRPr lang="en-US" sz="1700" dirty="0"/>
          </a:p>
        </p:txBody>
      </p:sp>
      <p:sp>
        <p:nvSpPr>
          <p:cNvPr id="10" name="Text 8"/>
          <p:cNvSpPr/>
          <p:nvPr/>
        </p:nvSpPr>
        <p:spPr>
          <a:xfrm>
            <a:off x="815975" y="40443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Push notifications</a:t>
            </a:r>
            <a:endParaRPr lang="en-US" sz="1700" dirty="0"/>
          </a:p>
        </p:txBody>
      </p:sp>
      <p:sp>
        <p:nvSpPr>
          <p:cNvPr id="11" name="Text 9"/>
          <p:cNvSpPr/>
          <p:nvPr/>
        </p:nvSpPr>
        <p:spPr>
          <a:xfrm>
            <a:off x="4397375" y="40443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File attachments</a:t>
            </a:r>
            <a:endParaRPr lang="en-US" sz="1700" dirty="0"/>
          </a:p>
        </p:txBody>
      </p:sp>
      <p:sp>
        <p:nvSpPr>
          <p:cNvPr id="12" name="Text 10"/>
          <p:cNvSpPr/>
          <p:nvPr/>
        </p:nvSpPr>
        <p:spPr>
          <a:xfrm>
            <a:off x="7978775" y="4044317"/>
            <a:ext cx="3397250" cy="712470"/>
          </a:xfrm>
          <a:prstGeom prst="roundRect">
            <a:avLst>
              <a:gd name="adj" fmla="val 13815"/>
            </a:avLst>
          </a:prstGeom>
          <a:solidFill>
            <a:srgbClr val="F0F8FE"/>
          </a:solidFill>
          <a:ln w="6350">
            <a:solidFill>
              <a:srgbClr val="CFE6F6"/>
            </a:solidFill>
            <a:prstDash val="solid"/>
          </a:ln>
        </p:spPr>
        <p:txBody>
          <a:bodyPr wrap="square" lIns="176277" tIns="176277" rIns="86666" bIns="150877" rtlCol="0" anchor="t">
            <a:normAutofit/>
          </a:bodyPr>
          <a:lstStyle/>
          <a:p>
            <a:pPr marL="0" indent="0" algn="l">
              <a:lnSpc>
                <a:spcPts val="2380"/>
              </a:lnSpc>
              <a:buNone/>
            </a:pPr>
            <a:r>
              <a:rPr lang="en-US" sz="1700" b="1" dirty="0">
                <a:solidFill>
                  <a:srgbClr val="0B2A43"/>
                </a:solidFill>
                <a:latin typeface="DM Sans" pitchFamily="34" charset="0"/>
                <a:ea typeface="DM Sans" pitchFamily="34" charset="-122"/>
                <a:cs typeface="DM Sans" pitchFamily="34" charset="-120"/>
              </a:rPr>
              <a:t>Mobile application</a:t>
            </a:r>
            <a:endParaRPr lang="en-US" sz="1700" dirty="0"/>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C"/>
                </a:solidFill>
                <a:latin typeface="DM Sans" pitchFamily="34" charset="0"/>
                <a:ea typeface="DM Sans" pitchFamily="34" charset="-122"/>
                <a:cs typeface="DM Sans" pitchFamily="34" charset="-120"/>
              </a:rPr>
              <a:t>TaskPilot AI</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97C"/>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p:nvPr>
        </p:nvSpPr>
        <p:spPr>
          <a:xfrm>
            <a:off x="812800" y="1885950"/>
            <a:ext cx="10883392" cy="1198880"/>
          </a:xfrm>
          <a:prstGeom prst="rect">
            <a:avLst/>
          </a:prstGeom>
          <a:noFill/>
          <a:ln/>
        </p:spPr>
        <p:txBody>
          <a:bodyPr wrap="square" lIns="0" tIns="0" rIns="0" bIns="0" rtlCol="0" anchor="t">
            <a:normAutofit/>
          </a:bodyPr>
          <a:lstStyle/>
          <a:p>
            <a:pPr marL="0" indent="0" algn="l">
              <a:lnSpc>
                <a:spcPts val="9240"/>
              </a:lnSpc>
              <a:buNone/>
            </a:pPr>
            <a:r>
              <a:rPr lang="en-US" sz="8800" b="1" i="0" dirty="0">
                <a:solidFill>
                  <a:srgbClr val="0B2A43"/>
                </a:solidFill>
                <a:latin typeface="DM Sans" pitchFamily="34" charset="0"/>
                <a:ea typeface="DM Sans" pitchFamily="34" charset="-122"/>
                <a:cs typeface="DM Sans" pitchFamily="34" charset="-120"/>
              </a:rPr>
              <a:t>Thank you</a:t>
            </a:r>
            <a:endParaRPr lang="en-US" sz="8800" dirty="0"/>
          </a:p>
        </p:txBody>
      </p:sp>
      <p:sp>
        <p:nvSpPr>
          <p:cNvPr id="3" name="Text 1"/>
          <p:cNvSpPr/>
          <p:nvPr/>
        </p:nvSpPr>
        <p:spPr>
          <a:xfrm>
            <a:off x="812800" y="3238500"/>
            <a:ext cx="10883392"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B6FA8"/>
                </a:solidFill>
                <a:latin typeface="DM Sans" pitchFamily="34" charset="0"/>
                <a:ea typeface="DM Sans" pitchFamily="34" charset="-122"/>
                <a:cs typeface="DM Sans" pitchFamily="34" charset="-120"/>
              </a:rPr>
              <a:t>Questions?</a:t>
            </a:r>
            <a:endParaRPr lang="en-US" sz="3200" dirty="0"/>
          </a:p>
        </p:txBody>
      </p:sp>
      <p:sp>
        <p:nvSpPr>
          <p:cNvPr id="4" name="Text 2"/>
          <p:cNvSpPr/>
          <p:nvPr/>
        </p:nvSpPr>
        <p:spPr>
          <a:xfrm>
            <a:off x="812800" y="44831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568"/>
                </a:solidFill>
                <a:latin typeface="DM Sans" pitchFamily="34" charset="0"/>
                <a:ea typeface="DM Sans" pitchFamily="34" charset="-122"/>
                <a:cs typeface="DM Sans" pitchFamily="34" charset="-120"/>
              </a:rPr>
              <a:t>github.com/Adityaraut67/task-planner</a:t>
            </a:r>
            <a:endParaRPr lang="en-US" sz="1600" dirty="0"/>
          </a:p>
        </p:txBody>
      </p:sp>
    </p:spTree>
  </p:cSld>
  <p:clrMapOvr>
    <a:masterClrMapping/>
  </p:clrMapOvr>
</p:sld>
</file>

<file path=ppt/theme/theme1.xml><?xml version="1.0" encoding="utf-8"?>
<a:theme xmlns:a="http://schemas.openxmlformats.org/drawingml/2006/main" name="TaskPilot AI">
  <a:themeElements>
    <a:clrScheme name="TaskPilot AI">
      <a:dk1>
        <a:srgbClr val="0B2A43"/>
      </a:dk1>
      <a:lt1>
        <a:srgbClr val="FFFFFF"/>
      </a:lt1>
      <a:dk2>
        <a:srgbClr val="485F72"/>
      </a:dk2>
      <a:lt2>
        <a:srgbClr val="E7EAEC"/>
      </a:lt2>
      <a:accent1>
        <a:srgbClr val="0B6FA8"/>
      </a:accent1>
      <a:accent2>
        <a:srgbClr val="3F5568"/>
      </a:accent2>
      <a:accent3>
        <a:srgbClr val="55697C"/>
      </a:accent3>
      <a:accent4>
        <a:srgbClr val="50667A"/>
      </a:accent4>
      <a:accent5>
        <a:srgbClr val="7FBCE6"/>
      </a:accent5>
      <a:accent6>
        <a:srgbClr val="B36B00"/>
      </a:accent6>
      <a:hlink>
        <a:srgbClr val="0563C1"/>
      </a:hlink>
      <a:folHlink>
        <a:srgbClr val="954F72"/>
      </a:folHlink>
    </a:clrScheme>
    <a:fontScheme name="TaskPilot AI">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1351</Words>
  <Application>Microsoft Office PowerPoint</Application>
  <PresentationFormat>Widescreen</PresentationFormat>
  <Paragraphs>235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DM Sans</vt:lpstr>
      <vt:lpstr>TaskPilot AI</vt:lpstr>
      <vt:lpstr>TaskPilot AI</vt:lpstr>
      <vt:lpstr>Planning a day is scattered across too many places</vt:lpstr>
      <vt:lpstr>One app to organize, schedule, plan and review</vt:lpstr>
      <vt:lpstr>Six modules, one workflow</vt:lpstr>
      <vt:lpstr>Every request is verified with a JWT</vt:lpstr>
      <vt:lpstr>Tasks with status and priority</vt:lpstr>
      <vt:lpstr>Keep every event in view</vt:lpstr>
      <vt:lpstr>A daily plan generated by Google Gemini</vt:lpstr>
      <vt:lpstr>See progress at a glance</vt:lpstr>
      <vt:lpstr>An administrator view of the platform</vt:lpstr>
      <vt:lpstr>Built on a modern JavaScript stack</vt:lpstr>
      <vt:lpstr>The backend connects the app to data and AI</vt:lpstr>
      <vt:lpstr>Running locally, then deploying</vt:lpstr>
      <vt:lpstr>Where TaskPilot AI goes next</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TaskPilot AI</dc:title>
  <dc:subject/>
  <dc:creator/>
  <cp:lastModifiedBy>Microsoft account</cp:lastModifiedBy>
  <cp:revision>2</cp:revision>
  <dcterms:created xsi:type="dcterms:W3CDTF">2026-10-14T16:08:49Z</dcterms:created>
  <dcterms:modified xsi:type="dcterms:W3CDTF">2026-10-20T06:12:15Z</dcterms:modified>
</cp:coreProperties>
</file>